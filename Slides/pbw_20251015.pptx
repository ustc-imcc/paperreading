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handoutMasterIdLst>
    <p:handoutMasterId r:id="rId22"/>
  </p:handoutMasterIdLst>
  <p:sldIdLst>
    <p:sldId id="342" r:id="rId3"/>
    <p:sldId id="345" r:id="rId4"/>
    <p:sldId id="346" r:id="rId5"/>
    <p:sldId id="347" r:id="rId6"/>
    <p:sldId id="367" r:id="rId7"/>
    <p:sldId id="352" r:id="rId8"/>
    <p:sldId id="354" r:id="rId9"/>
    <p:sldId id="355" r:id="rId11"/>
    <p:sldId id="357" r:id="rId12"/>
    <p:sldId id="349" r:id="rId13"/>
    <p:sldId id="350" r:id="rId14"/>
    <p:sldId id="351" r:id="rId15"/>
    <p:sldId id="361" r:id="rId16"/>
    <p:sldId id="362" r:id="rId17"/>
    <p:sldId id="363" r:id="rId18"/>
    <p:sldId id="364" r:id="rId19"/>
    <p:sldId id="365" r:id="rId20"/>
    <p:sldId id="366" r:id="rId21"/>
  </p:sldIdLst>
  <p:sldSz cx="9144000" cy="6858000" type="screen4x3"/>
  <p:notesSz cx="6858000" cy="9144000"/>
  <p:custDataLst>
    <p:tags r:id="rId27"/>
  </p:custDataLst>
  <p:defaultTextStyle>
    <a:defPPr>
      <a:defRPr lang="zh-CN"/>
    </a:defPPr>
    <a:lvl1pPr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26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徐 静远" initials="徐"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DA1"/>
    <a:srgbClr val="014BA0"/>
    <a:srgbClr val="004CA0"/>
    <a:srgbClr val="004D95"/>
    <a:srgbClr val="00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49" autoAdjust="0"/>
    <p:restoredTop sz="86618" autoAdjust="0"/>
  </p:normalViewPr>
  <p:slideViewPr>
    <p:cSldViewPr showGuides="1">
      <p:cViewPr varScale="1">
        <p:scale>
          <a:sx n="66" d="100"/>
          <a:sy n="66" d="100"/>
        </p:scale>
        <p:origin x="1596" y="78"/>
      </p:cViewPr>
      <p:guideLst>
        <p:guide orient="horz" pos="2267"/>
        <p:guide pos="2880"/>
      </p:guideLst>
    </p:cSldViewPr>
  </p:slideViewPr>
  <p:notesTextViewPr>
    <p:cViewPr>
      <p:scale>
        <a:sx n="3" d="2"/>
        <a:sy n="3" d="2"/>
      </p:scale>
      <p:origin x="0" y="0"/>
    </p:cViewPr>
  </p:notesTextViewPr>
  <p:notesViewPr>
    <p:cSldViewPr>
      <p:cViewPr varScale="1">
        <p:scale>
          <a:sx n="91" d="100"/>
          <a:sy n="91" d="100"/>
        </p:scale>
        <p:origin x="3564"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52C088-6779-478D-BFC4-B02F74C9D47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8CE05B-1D6A-4EF7-A591-B3FE4C6E9F2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4338" name="页眉占位符 1"/>
          <p:cNvSpPr>
            <a:spLocks noGrp="1" noChangeArrowheads="1"/>
          </p:cNvSpPr>
          <p:nvPr>
            <p:ph type="hdr" sz="quarter"/>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latin typeface="Calibri" panose="020F0502020204030204" pitchFamily="34" charset="0"/>
              </a:defRPr>
            </a:lvl1pPr>
          </a:lstStyle>
          <a:p>
            <a:endParaRPr lang="zh-CN" altLang="en-US"/>
          </a:p>
        </p:txBody>
      </p:sp>
      <p:sp>
        <p:nvSpPr>
          <p:cNvPr id="14339"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a:latin typeface="Calibri" panose="020F0502020204030204" pitchFamily="34" charset="0"/>
              </a:defRPr>
            </a:lvl1pPr>
          </a:lstStyle>
          <a:p>
            <a:fld id="{6968198F-D380-411B-968E-E9E7B223432C}" type="datetimeFigureOut">
              <a:rPr lang="zh-CN" altLang="en-US"/>
            </a:fld>
            <a:endParaRPr lang="zh-CN" altLang="en-US"/>
          </a:p>
        </p:txBody>
      </p:sp>
      <p:sp>
        <p:nvSpPr>
          <p:cNvPr id="14340" name="幻灯片图像占位符 3"/>
          <p:cNvSpPr>
            <a:spLocks noGrp="1" noRot="1" noChangeAspect="1" noChangeArrowheads="1"/>
          </p:cNvSpPr>
          <p:nvPr>
            <p:ph type="sldImg" idx="2"/>
          </p:nvPr>
        </p:nvSpPr>
        <p:spPr bwMode="auto">
          <a:xfrm>
            <a:off x="1371600" y="1143000"/>
            <a:ext cx="41148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4341" name="备注占位符 4"/>
          <p:cNvSpPr>
            <a:spLocks noGrp="1" noChangeArrowheads="1"/>
          </p:cNvSpPr>
          <p:nvPr>
            <p:ph type="body" sz="quarter" idx="3"/>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342" name="页脚占位符 5"/>
          <p:cNvSpPr>
            <a:spLocks noGrp="1" noChangeArrowheads="1"/>
          </p:cNvSpPr>
          <p:nvPr>
            <p:ph type="ftr" sz="quarter" idx="4"/>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sz="1200">
                <a:latin typeface="Calibri" panose="020F0502020204030204" pitchFamily="34" charset="0"/>
              </a:defRPr>
            </a:lvl1pPr>
          </a:lstStyle>
          <a:p>
            <a:endParaRPr lang="zh-CN" altLang="en-US"/>
          </a:p>
        </p:txBody>
      </p:sp>
      <p:sp>
        <p:nvSpPr>
          <p:cNvPr id="14343" name="灯片编号占位符 6"/>
          <p:cNvSpPr>
            <a:spLocks noGrp="1" noChangeArrowheads="1"/>
          </p:cNvSpPr>
          <p:nvPr>
            <p:ph type="sldNum" sz="quarter" idx="5"/>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a:defRPr sz="1200">
                <a:latin typeface="Calibri" panose="020F0502020204030204" pitchFamily="34" charset="0"/>
              </a:defRPr>
            </a:lvl1pPr>
          </a:lstStyle>
          <a:p>
            <a:fld id="{592CE7C5-A61D-47A0-BD2C-455709C4B5E2}"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任务关系</a:t>
            </a:r>
            <a:r>
              <a:rPr lang="en-US" altLang="zh-CN"/>
              <a:t> </a:t>
            </a:r>
            <a:r>
              <a:rPr lang="zh-CN" altLang="en-US"/>
              <a:t>（</a:t>
            </a:r>
            <a:r>
              <a:rPr lang="en-US" altLang="zh-CN"/>
              <a:t>TR</a:t>
            </a:r>
            <a:r>
              <a:rPr lang="zh-CN" altLang="en-US"/>
              <a:t>）。我们借鉴了</a:t>
            </a:r>
            <a:r>
              <a:rPr lang="en-US" altLang="zh-CN"/>
              <a:t> Ego-Exo4D </a:t>
            </a:r>
            <a:r>
              <a:rPr lang="zh-CN" altLang="en-US"/>
              <a:t>中的同步和异步演示</a:t>
            </a:r>
            <a:r>
              <a:rPr lang="en-US" altLang="zh-CN"/>
              <a:t>[17]</a:t>
            </a:r>
            <a:r>
              <a:rPr lang="zh-CN" altLang="en-US"/>
              <a:t>、自我</a:t>
            </a:r>
            <a:r>
              <a:rPr lang="en-US" altLang="zh-CN"/>
              <a:t>ExoLearn[23]</a:t>
            </a:r>
            <a:r>
              <a:rPr lang="zh-CN" altLang="en-US"/>
              <a:t>和引理</a:t>
            </a:r>
            <a:r>
              <a:rPr lang="en-US" altLang="zh-CN"/>
              <a:t>[26].</a:t>
            </a:r>
            <a:r>
              <a:rPr lang="zh-CN" altLang="en-US"/>
              <a:t>我们将高级活动（例如，在厨房组装设备）的自我中心剪辑与标有相同任务</a:t>
            </a:r>
            <a:r>
              <a:rPr lang="en-US" altLang="zh-CN"/>
              <a:t> ID </a:t>
            </a:r>
            <a:r>
              <a:rPr lang="zh-CN" altLang="en-US"/>
              <a:t>的外中心视频配对。为了防止琐碎的场景匹配，地面实况对来自同一场景中的不同环境，而负候选者则在视觉上相似的上下文中描述其他任务。</a:t>
            </a:r>
            <a:r>
              <a:rPr lang="en-US" altLang="zh-CN"/>
              <a:t>QA </a:t>
            </a:r>
            <a:r>
              <a:rPr lang="zh-CN" altLang="en-US"/>
              <a:t>对通过注释派生的模板生成，将任务</a:t>
            </a:r>
            <a:r>
              <a:rPr lang="en-US" altLang="zh-CN"/>
              <a:t> ID </a:t>
            </a:r>
            <a:r>
              <a:rPr lang="zh-CN" altLang="en-US"/>
              <a:t>转换为四个选择的</a:t>
            </a:r>
            <a:r>
              <a:rPr lang="en-US" altLang="zh-CN"/>
              <a:t> MCQ</a:t>
            </a:r>
            <a:r>
              <a:rPr lang="zh-CN" altLang="en-US"/>
              <a:t>，并通过自动一致性检查和基于视觉的提示进行过滤，以确保对视觉输入的依赖。</a:t>
            </a:r>
            <a:endParaRPr lang="zh-CN" altLang="en-US"/>
          </a:p>
          <a:p>
            <a:endParaRPr lang="en-US" altLang="zh-CN"/>
          </a:p>
          <a:p>
            <a:r>
              <a:rPr lang="zh-CN" altLang="en-US"/>
              <a:t>动作关系</a:t>
            </a:r>
            <a:r>
              <a:rPr lang="en-US" altLang="zh-CN"/>
              <a:t> </a:t>
            </a:r>
            <a:r>
              <a:rPr lang="zh-CN" altLang="en-US"/>
              <a:t>（</a:t>
            </a:r>
            <a:r>
              <a:rPr lang="en-US" altLang="zh-CN"/>
              <a:t>AR</a:t>
            </a:r>
            <a:r>
              <a:rPr lang="zh-CN" altLang="en-US"/>
              <a:t>）。给定一个视频剪辑，此任务旨在从另一个角度识别捕获相同动作的相应剪辑。它需要桥接透视引起的变化，例如摄像机运动和遮挡，以建立细粒度的动作对应关系。我们使用</a:t>
            </a:r>
            <a:r>
              <a:rPr lang="en-US" altLang="zh-CN"/>
              <a:t> LEMMA </a:t>
            </a:r>
            <a:r>
              <a:rPr lang="zh-CN" altLang="en-US"/>
              <a:t>中的视频构建</a:t>
            </a:r>
            <a:r>
              <a:rPr lang="en-US" altLang="zh-CN"/>
              <a:t> QA </a:t>
            </a:r>
            <a:r>
              <a:rPr lang="zh-CN" altLang="en-US"/>
              <a:t>对</a:t>
            </a:r>
            <a:r>
              <a:rPr lang="en-US" altLang="zh-CN"/>
              <a:t>[26]</a:t>
            </a:r>
            <a:r>
              <a:rPr lang="zh-CN" altLang="en-US"/>
              <a:t>和</a:t>
            </a:r>
            <a:r>
              <a:rPr lang="en-US" altLang="zh-CN"/>
              <a:t> EgoExoLearn[23].</a:t>
            </a:r>
            <a:r>
              <a:rPr lang="zh-CN" altLang="en-US"/>
              <a:t>对于</a:t>
            </a:r>
            <a:r>
              <a:rPr lang="en-US" altLang="zh-CN"/>
              <a:t> LEMMA[26]</a:t>
            </a:r>
            <a:r>
              <a:rPr lang="zh-CN" altLang="en-US"/>
              <a:t>，则</a:t>
            </a:r>
            <a:r>
              <a:rPr lang="en-US" altLang="zh-CN"/>
              <a:t> Ground-Truth </a:t>
            </a:r>
            <a:r>
              <a:rPr lang="zh-CN" altLang="en-US"/>
              <a:t>剪辑在时间上与查询对齐，但从不同的视角记录。对于</a:t>
            </a:r>
            <a:r>
              <a:rPr lang="en-US" altLang="zh-CN"/>
              <a:t> EgoExoLearn[23]</a:t>
            </a:r>
            <a:r>
              <a:rPr lang="zh-CN" altLang="en-US"/>
              <a:t>，则从描述相同动作的不同视频中绘制正确的匹配剪辑。</a:t>
            </a:r>
            <a:endParaRPr lang="zh-CN" altLang="en-US"/>
          </a:p>
          <a:p>
            <a:endParaRPr lang="en-US" altLang="zh-CN"/>
          </a:p>
          <a:p>
            <a:r>
              <a:rPr lang="zh-CN" altLang="en-US"/>
              <a:t>对象关系</a:t>
            </a:r>
            <a:r>
              <a:rPr lang="en-US" altLang="zh-CN"/>
              <a:t> </a:t>
            </a:r>
            <a:r>
              <a:rPr lang="zh-CN" altLang="en-US"/>
              <a:t>（</a:t>
            </a:r>
            <a:r>
              <a:rPr lang="en-US" altLang="zh-CN"/>
              <a:t>OR</a:t>
            </a:r>
            <a:r>
              <a:rPr lang="zh-CN" altLang="en-US"/>
              <a:t>）。给定查询视频，此任务旨在从涉及与同一对象交互的另一个角度识别候选视频。我们策划来自</a:t>
            </a:r>
            <a:r>
              <a:rPr lang="en-US" altLang="zh-CN"/>
              <a:t> LEMMA </a:t>
            </a:r>
            <a:r>
              <a:rPr lang="zh-CN" altLang="en-US"/>
              <a:t>的视频</a:t>
            </a:r>
            <a:r>
              <a:rPr lang="en-US" altLang="zh-CN"/>
              <a:t>[26]</a:t>
            </a:r>
            <a:r>
              <a:rPr lang="zh-CN" altLang="en-US"/>
              <a:t>并从注释中派生对象交互。为了增加难度，没有给出有关对象的文本提示。模型必须先推断每个视频中与之交互的对象，然后才能跨视图进行匹配。正确的视频在时间上与查询一致，但从另一个角度，而否定候选视频则描述了与同一环境中不同对象的交互。</a:t>
            </a:r>
            <a:endParaRPr lang="zh-CN" altLang="en-US"/>
          </a:p>
          <a:p>
            <a:endParaRPr lang="en-US" altLang="zh-CN"/>
          </a:p>
          <a:p>
            <a:r>
              <a:rPr lang="zh-CN" altLang="en-US"/>
              <a:t>人际关系</a:t>
            </a:r>
            <a:r>
              <a:rPr lang="en-US" altLang="zh-CN"/>
              <a:t> </a:t>
            </a:r>
            <a:r>
              <a:rPr lang="zh-CN" altLang="en-US"/>
              <a:t>（</a:t>
            </a:r>
            <a:r>
              <a:rPr lang="en-US" altLang="zh-CN"/>
              <a:t>PR</a:t>
            </a:r>
            <a:r>
              <a:rPr lang="zh-CN" altLang="en-US"/>
              <a:t>）。给定一个视频剪辑，该任务旨在从不同的角度识别同一个人。我们从</a:t>
            </a:r>
            <a:r>
              <a:rPr lang="en-US" altLang="zh-CN"/>
              <a:t> CVMHAT </a:t>
            </a:r>
            <a:r>
              <a:rPr lang="zh-CN" altLang="en-US"/>
              <a:t>中整理数据</a:t>
            </a:r>
            <a:r>
              <a:rPr lang="en-US" altLang="zh-CN"/>
              <a:t>[19]</a:t>
            </a:r>
            <a:r>
              <a:rPr lang="zh-CN" altLang="en-US"/>
              <a:t>，在户外场景中提供同步的以自我为中心和俯视记录。在每个查询中，目标个人都会使用边界框突出显示。正确答案对应于在同一时间戳中观察到的同一个人，但从另一个角度观察到。为了防止基于场景或时间线索的快捷方式，从相同的时间戳中抽取负候选者，但描述不同的个体。</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以自我为中心的佩戴者识别</a:t>
            </a:r>
            <a:r>
              <a:rPr lang="en-US" altLang="zh-CN"/>
              <a:t> </a:t>
            </a:r>
            <a:r>
              <a:rPr lang="zh-CN" altLang="en-US"/>
              <a:t>（</a:t>
            </a:r>
            <a:r>
              <a:rPr lang="en-US" altLang="zh-CN"/>
              <a:t>EWI</a:t>
            </a:r>
            <a:r>
              <a:rPr lang="zh-CN" altLang="en-US"/>
              <a:t>）。给定以自我为中心的视频，该任务旨在以第三人称视角识别相机佩戴者。与人际关系任务相比，这种设置更具挑战性，因为以自我为中心的佩戴者通常不在他们自己的角度。在外观线索有限的情况下，模型必须通过分析周围人和物体的相对位置来推断空间关系，然后将这些关系从自我中心视角映射到外中心视角。我们以</a:t>
            </a:r>
            <a:r>
              <a:rPr lang="en-US" altLang="zh-CN"/>
              <a:t> TF2023 </a:t>
            </a:r>
            <a:r>
              <a:rPr lang="zh-CN" altLang="en-US"/>
              <a:t>数据集为基础</a:t>
            </a:r>
            <a:r>
              <a:rPr lang="en-US" altLang="zh-CN"/>
              <a:t>[76]</a:t>
            </a:r>
            <a:r>
              <a:rPr lang="zh-CN" altLang="en-US"/>
              <a:t>，提供同步的自我中心</a:t>
            </a:r>
            <a:r>
              <a:rPr lang="en-US" altLang="zh-CN"/>
              <a:t>-</a:t>
            </a:r>
            <a:r>
              <a:rPr lang="zh-CN" altLang="en-US"/>
              <a:t>外中心图像对和带注释的人类边界框。我们只保留包含四个或更多个体的样本，以增加空间复杂性。为了构建</a:t>
            </a:r>
            <a:r>
              <a:rPr lang="en-US" altLang="zh-CN"/>
              <a:t> MCQ </a:t>
            </a:r>
            <a:r>
              <a:rPr lang="zh-CN" altLang="en-US"/>
              <a:t>候选者，我们根据相同的外心框架选择不同的人。</a:t>
            </a:r>
            <a:endParaRPr lang="zh-CN" altLang="en-US"/>
          </a:p>
          <a:p>
            <a:endParaRPr lang="en-US" altLang="zh-CN"/>
          </a:p>
          <a:p>
            <a:r>
              <a:rPr lang="zh-CN" altLang="en-US"/>
              <a:t>方向预测</a:t>
            </a:r>
            <a:r>
              <a:rPr lang="en-US" altLang="zh-CN"/>
              <a:t> </a:t>
            </a:r>
            <a:r>
              <a:rPr lang="zh-CN" altLang="en-US"/>
              <a:t>（</a:t>
            </a:r>
            <a:r>
              <a:rPr lang="en-US" altLang="zh-CN"/>
              <a:t>DP</a:t>
            </a:r>
            <a:r>
              <a:rPr lang="zh-CN" altLang="en-US"/>
              <a:t>）。给定一个以自我为中心的视频，该任务检查模型将自我视图运动投射到全局场景中的能力。使用</a:t>
            </a:r>
            <a:r>
              <a:rPr lang="en-US" altLang="zh-CN"/>
              <a:t> Ego-Exo4D[17]</a:t>
            </a:r>
            <a:r>
              <a:rPr lang="zh-CN" altLang="en-US"/>
              <a:t>同步多视图录制，我们首先通过</a:t>
            </a:r>
            <a:r>
              <a:rPr lang="en-US" altLang="zh-CN"/>
              <a:t>Qwen2.5 32B</a:t>
            </a:r>
            <a:r>
              <a:rPr lang="zh-CN" altLang="en-US"/>
              <a:t>过滤的旁白识别出实体移动清晰的片段。然后，专家注释者在以自我为中心的视图中标记佩戴者或物体的运动方向。每个问题提供多个外心剪辑，其中只有一个与指定的方向条件匹配。手动验证确保只保留明确、视觉上扎根的示例。</a:t>
            </a:r>
            <a:endParaRPr lang="zh-CN" altLang="en-US"/>
          </a:p>
          <a:p>
            <a:endParaRPr lang="en-US" altLang="zh-CN"/>
          </a:p>
          <a:p>
            <a:r>
              <a:rPr lang="zh-CN" altLang="en-US"/>
              <a:t>身体部位动作理解</a:t>
            </a:r>
            <a:r>
              <a:rPr lang="en-US" altLang="zh-CN"/>
              <a:t> </a:t>
            </a:r>
            <a:r>
              <a:rPr lang="zh-CN" altLang="en-US"/>
              <a:t>（</a:t>
            </a:r>
            <a:r>
              <a:rPr lang="en-US" altLang="zh-CN"/>
              <a:t>BPA</a:t>
            </a:r>
            <a:r>
              <a:rPr lang="zh-CN" altLang="en-US"/>
              <a:t>）。该任务探测两个视图中肢体运动的细粒度空间映射。</a:t>
            </a:r>
            <a:r>
              <a:rPr lang="en-US" altLang="zh-CN"/>
              <a:t> </a:t>
            </a:r>
            <a:r>
              <a:rPr lang="zh-CN" altLang="en-US"/>
              <a:t>我们从</a:t>
            </a:r>
            <a:r>
              <a:rPr lang="en-US" altLang="zh-CN"/>
              <a:t> Ego-Exo4D </a:t>
            </a:r>
            <a:r>
              <a:rPr lang="zh-CN" altLang="en-US"/>
              <a:t>中提取片段</a:t>
            </a:r>
            <a:r>
              <a:rPr lang="en-US" altLang="zh-CN"/>
              <a:t>[17]</a:t>
            </a:r>
            <a:r>
              <a:rPr lang="zh-CN" altLang="en-US"/>
              <a:t>和</a:t>
            </a:r>
            <a:r>
              <a:rPr lang="en-US" altLang="zh-CN"/>
              <a:t> EgoExoLearn[23]</a:t>
            </a:r>
            <a:r>
              <a:rPr lang="zh-CN" altLang="en-US"/>
              <a:t>其中旁白明确提及身体部位，例如左手或右手。</a:t>
            </a:r>
            <a:r>
              <a:rPr lang="en-US" altLang="zh-CN"/>
              <a:t>Qwen2.5-32B[70]</a:t>
            </a:r>
            <a:r>
              <a:rPr lang="zh-CN" altLang="en-US"/>
              <a:t>识别相关的动词和宾语，以及</a:t>
            </a:r>
            <a:r>
              <a:rPr lang="en-US" altLang="zh-CN"/>
              <a:t> DeepSeek-V3[36]</a:t>
            </a:r>
            <a:r>
              <a:rPr lang="zh-CN" altLang="en-US"/>
              <a:t>生成共享至少一个动作或对象提示的干扰器。我们生成问题，要求配对显示相同身体部位活动的以自我为中心和外向中心的剪辑。最后，我们应用一个基于</a:t>
            </a:r>
            <a:r>
              <a:rPr lang="en-US" altLang="zh-CN"/>
              <a:t> Qwen2.5-32B </a:t>
            </a:r>
            <a:r>
              <a:rPr lang="zh-CN" altLang="en-US"/>
              <a:t>的过滤器，该过滤器丢弃了任何仅通过文本可解决的实例。</a:t>
            </a:r>
            <a:endParaRPr lang="zh-CN" altLang="en-US"/>
          </a:p>
          <a:p>
            <a:endParaRPr lang="en-US" altLang="zh-CN"/>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动作预测</a:t>
            </a:r>
            <a:r>
              <a:rPr lang="en-US" altLang="zh-CN"/>
              <a:t> </a:t>
            </a:r>
            <a:r>
              <a:rPr lang="zh-CN" altLang="en-US"/>
              <a:t>（</a:t>
            </a:r>
            <a:r>
              <a:rPr lang="en-US" altLang="zh-CN"/>
              <a:t>AP</a:t>
            </a:r>
            <a:r>
              <a:rPr lang="zh-CN" altLang="en-US"/>
              <a:t>）。我们将部分以自我为中心的剪辑与较长的外中心演示配对，并要求模型预测随后的自我中心行为。</a:t>
            </a:r>
            <a:r>
              <a:rPr lang="en-US" altLang="zh-CN"/>
              <a:t> </a:t>
            </a:r>
            <a:r>
              <a:rPr lang="zh-CN" altLang="en-US"/>
              <a:t>为了构建数据，我们从</a:t>
            </a:r>
            <a:r>
              <a:rPr lang="en-US" altLang="zh-CN"/>
              <a:t> LEMMA </a:t>
            </a:r>
            <a:r>
              <a:rPr lang="zh-CN" altLang="en-US"/>
              <a:t>收集视频</a:t>
            </a:r>
            <a:r>
              <a:rPr lang="en-US" altLang="zh-CN"/>
              <a:t>[26]</a:t>
            </a:r>
            <a:r>
              <a:rPr lang="zh-CN" altLang="en-US"/>
              <a:t>和</a:t>
            </a:r>
            <a:r>
              <a:rPr lang="en-US" altLang="zh-CN"/>
              <a:t> EgoMe[44].</a:t>
            </a:r>
            <a:r>
              <a:rPr lang="zh-CN" altLang="en-US"/>
              <a:t>对于</a:t>
            </a:r>
            <a:r>
              <a:rPr lang="en-US" altLang="zh-CN"/>
              <a:t> LEMMA[26]</a:t>
            </a:r>
            <a:r>
              <a:rPr lang="zh-CN" altLang="en-US"/>
              <a:t>，我们利用动作注释来提取基本事实的下一个动作和否定候选者。具体来说，我们在以自我为中心的序列中选择围绕当前动作的十个动作，排除真正的下一个动作，并提示</a:t>
            </a:r>
            <a:r>
              <a:rPr lang="en-US" altLang="zh-CN"/>
              <a:t> Qwen2.5-32B[70]</a:t>
            </a:r>
            <a:r>
              <a:rPr lang="zh-CN" altLang="en-US"/>
              <a:t>从这组中找出三个最合理的干扰因素。在</a:t>
            </a:r>
            <a:r>
              <a:rPr lang="en-US" altLang="zh-CN"/>
              <a:t> EgoMe </a:t>
            </a:r>
            <a:r>
              <a:rPr lang="zh-CN" altLang="en-US"/>
              <a:t>的异步设置中</a:t>
            </a:r>
            <a:r>
              <a:rPr lang="en-US" altLang="zh-CN"/>
              <a:t>[44]</a:t>
            </a:r>
            <a:r>
              <a:rPr lang="zh-CN" altLang="en-US"/>
              <a:t>，我们依赖于以自我为中心的观点的带注释的动作描述，并使用</a:t>
            </a:r>
            <a:r>
              <a:rPr lang="en-US" altLang="zh-CN"/>
              <a:t> DeepSeek-V3[36]</a:t>
            </a:r>
            <a:r>
              <a:rPr lang="zh-CN" altLang="en-US"/>
              <a:t>相应地生成三个干扰因素。最后，我们使用</a:t>
            </a:r>
            <a:r>
              <a:rPr lang="en-US" altLang="zh-CN"/>
              <a:t> Qwen2.5-32B[70]</a:t>
            </a:r>
            <a:r>
              <a:rPr lang="zh-CN" altLang="en-US"/>
              <a:t>过滤掉仅根据文本输入可以回答的问题。</a:t>
            </a:r>
            <a:endParaRPr lang="zh-CN" altLang="en-US"/>
          </a:p>
          <a:p>
            <a:endParaRPr lang="en-US" altLang="zh-CN"/>
          </a:p>
          <a:p>
            <a:r>
              <a:rPr lang="zh-CN" altLang="en-US"/>
              <a:t>作排序</a:t>
            </a:r>
            <a:r>
              <a:rPr lang="en-US" altLang="zh-CN"/>
              <a:t> </a:t>
            </a:r>
            <a:r>
              <a:rPr lang="zh-CN" altLang="en-US"/>
              <a:t>（</a:t>
            </a:r>
            <a:r>
              <a:rPr lang="en-US" altLang="zh-CN"/>
              <a:t>AO</a:t>
            </a:r>
            <a:r>
              <a:rPr lang="zh-CN" altLang="en-US"/>
              <a:t>）。在这个任务中，给模型两个短片，一个以自我为中心，一个以外为中心，并被要求判断它们的时间关系。</a:t>
            </a:r>
            <a:r>
              <a:rPr lang="en-US" altLang="zh-CN"/>
              <a:t> </a:t>
            </a:r>
            <a:r>
              <a:rPr lang="zh-CN" altLang="en-US"/>
              <a:t>为了构建数据，我们从</a:t>
            </a:r>
            <a:r>
              <a:rPr lang="en-US" altLang="zh-CN"/>
              <a:t> LEMMA </a:t>
            </a:r>
            <a:r>
              <a:rPr lang="zh-CN" altLang="en-US"/>
              <a:t>的原始动作注释开始</a:t>
            </a:r>
            <a:r>
              <a:rPr lang="en-US" altLang="zh-CN"/>
              <a:t>[26].</a:t>
            </a:r>
            <a:r>
              <a:rPr lang="zh-CN" altLang="en-US"/>
              <a:t>每个问题实例都是通过选择两个时间连续的动作剪辑形成的。为了保证时间排序的有效性，我们提示</a:t>
            </a:r>
            <a:r>
              <a:rPr lang="en-US" altLang="zh-CN"/>
              <a:t> Qwen2.5-32B[70]</a:t>
            </a:r>
            <a:r>
              <a:rPr lang="zh-CN" altLang="en-US"/>
              <a:t>使用作的文本描述来过滤掉模棱两可或无序的作对。</a:t>
            </a:r>
            <a:endParaRPr lang="zh-CN" altLang="en-US"/>
          </a:p>
          <a:p>
            <a:endParaRPr lang="en-US" altLang="zh-CN"/>
          </a:p>
          <a:p>
            <a:r>
              <a:rPr lang="zh-CN" altLang="en-US"/>
              <a:t>序列比对</a:t>
            </a:r>
            <a:r>
              <a:rPr lang="en-US" altLang="zh-CN"/>
              <a:t> </a:t>
            </a:r>
            <a:r>
              <a:rPr lang="zh-CN" altLang="en-US"/>
              <a:t>（</a:t>
            </a:r>
            <a:r>
              <a:rPr lang="en-US" altLang="zh-CN"/>
              <a:t>SA</a:t>
            </a:r>
            <a:r>
              <a:rPr lang="zh-CN" altLang="en-US"/>
              <a:t>）。序列对齐通过询问以自我为中心和以外部为中心的视频是否共享相同的动作顺序、是否颠倒或在关键步骤上不同，将排序扩展到多步骤活动。</a:t>
            </a:r>
            <a:r>
              <a:rPr lang="en-US" altLang="zh-CN"/>
              <a:t> </a:t>
            </a:r>
            <a:r>
              <a:rPr lang="zh-CN" altLang="en-US"/>
              <a:t>为了构建数据，我们首先从</a:t>
            </a:r>
            <a:r>
              <a:rPr lang="en-US" altLang="zh-CN"/>
              <a:t> Ego-Exo4D </a:t>
            </a:r>
            <a:r>
              <a:rPr lang="zh-CN" altLang="en-US"/>
              <a:t>中策划视频</a:t>
            </a:r>
            <a:r>
              <a:rPr lang="en-US" altLang="zh-CN"/>
              <a:t>[17]</a:t>
            </a:r>
            <a:r>
              <a:rPr lang="zh-CN" altLang="en-US"/>
              <a:t>包括关键步骤注释。视频对是从同一活动类别中选择的，每对至少包含两个共享步骤。对于每一对，我们组织步骤描述并使用</a:t>
            </a:r>
            <a:r>
              <a:rPr lang="en-US" altLang="zh-CN"/>
              <a:t> DeepSeek-V3[36]</a:t>
            </a:r>
            <a:r>
              <a:rPr lang="zh-CN" altLang="en-US"/>
              <a:t>生成强调动作序列中关键差异的问题。为保证问题质量，我们采用</a:t>
            </a:r>
            <a:r>
              <a:rPr lang="en-US" altLang="zh-CN"/>
              <a:t>Qwen2.5-32B[70]</a:t>
            </a:r>
            <a:r>
              <a:rPr lang="zh-CN" altLang="en-US"/>
              <a:t>以验证正确答案是否与带注释的步骤一致。最后，我们使用了</a:t>
            </a:r>
            <a:r>
              <a:rPr lang="en-US" altLang="zh-CN"/>
              <a:t>Qwen2.5-32B[70]</a:t>
            </a:r>
            <a:r>
              <a:rPr lang="zh-CN" altLang="en-US"/>
              <a:t>过滤掉仅通过文本输入即可回答的问题。</a:t>
            </a:r>
            <a:endParaRPr lang="zh-CN" altLang="en-US"/>
          </a:p>
          <a:p>
            <a:endParaRPr lang="en-US" altLang="zh-CN"/>
          </a:p>
          <a:p>
            <a:r>
              <a:rPr lang="zh-CN" altLang="en-US"/>
              <a:t>技能评估</a:t>
            </a:r>
            <a:r>
              <a:rPr lang="en-US" altLang="zh-CN"/>
              <a:t> </a:t>
            </a:r>
            <a:r>
              <a:rPr lang="zh-CN" altLang="en-US"/>
              <a:t>（</a:t>
            </a:r>
            <a:r>
              <a:rPr lang="en-US" altLang="zh-CN"/>
              <a:t>SE</a:t>
            </a:r>
            <a:r>
              <a:rPr lang="zh-CN" altLang="en-US"/>
              <a:t>）。本任务以专家演示视频为参考，从不同角度评估其他视频的技能水平。它被表述为多项选择题，其中模型在候选人中选择最好或最差的表现。</a:t>
            </a:r>
            <a:r>
              <a:rPr lang="en-US" altLang="zh-CN"/>
              <a:t> </a:t>
            </a:r>
            <a:r>
              <a:rPr lang="zh-CN" altLang="en-US"/>
              <a:t>与文本指南相比，专家演示提供了基于规则的方法经常遗漏的细粒度行为线索。</a:t>
            </a:r>
            <a:r>
              <a:rPr lang="en-US" altLang="zh-CN"/>
              <a:t> </a:t>
            </a:r>
            <a:r>
              <a:rPr lang="zh-CN" altLang="en-US"/>
              <a:t>我们从</a:t>
            </a:r>
            <a:r>
              <a:rPr lang="en-US" altLang="zh-CN"/>
              <a:t> EgoExoLearn </a:t>
            </a:r>
            <a:r>
              <a:rPr lang="zh-CN" altLang="en-US"/>
              <a:t>构建数据</a:t>
            </a:r>
            <a:r>
              <a:rPr lang="en-US" altLang="zh-CN"/>
              <a:t>[23]</a:t>
            </a:r>
            <a:r>
              <a:rPr lang="zh-CN" altLang="en-US"/>
              <a:t>和</a:t>
            </a:r>
            <a:r>
              <a:rPr lang="en-US" altLang="zh-CN"/>
              <a:t> Ego-Exo4D[17].</a:t>
            </a:r>
            <a:r>
              <a:rPr lang="zh-CN" altLang="en-US"/>
              <a:t>对于</a:t>
            </a:r>
            <a:r>
              <a:rPr lang="en-US" altLang="zh-CN"/>
              <a:t> EgoExoLearn[23]</a:t>
            </a:r>
            <a:r>
              <a:rPr lang="zh-CN" altLang="en-US"/>
              <a:t>，我们以外心演示视频为参考，从成对技能标注中构建传递排名链，在候选视频之间建立清晰的层次结构。对于</a:t>
            </a:r>
            <a:r>
              <a:rPr lang="en-US" altLang="zh-CN"/>
              <a:t> Ego-Exo4D[17]</a:t>
            </a:r>
            <a:r>
              <a:rPr lang="zh-CN" altLang="en-US"/>
              <a:t>，我们选择</a:t>
            </a:r>
            <a:r>
              <a:rPr lang="en-US" altLang="zh-CN"/>
              <a:t>“</a:t>
            </a:r>
            <a:r>
              <a:rPr lang="zh-CN" altLang="en-US"/>
              <a:t>迟到专家</a:t>
            </a:r>
            <a:r>
              <a:rPr lang="en-US" altLang="zh-CN"/>
              <a:t>”</a:t>
            </a:r>
            <a:r>
              <a:rPr lang="zh-CN" altLang="en-US"/>
              <a:t>视频作为参考，并从同一活动中挑选具有不同熟练程度分数的候选人。以自我为中心的视频，动作可见性差，系统会手动排除。</a:t>
            </a:r>
            <a:endParaRPr lang="zh-CN" altLang="en-US"/>
          </a:p>
          <a:p>
            <a:endParaRPr lang="en-US" altLang="zh-CN"/>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总结了开源和闭源模型在</a:t>
            </a:r>
            <a:r>
              <a:rPr lang="en-US" altLang="zh-CN"/>
              <a:t> EgoExoBench </a:t>
            </a:r>
            <a:r>
              <a:rPr lang="zh-CN" altLang="en-US"/>
              <a:t>上的性能。在开源模型中，</a:t>
            </a:r>
            <a:r>
              <a:rPr lang="en-US" altLang="zh-CN"/>
              <a:t>Qwen2.5-VL-72B[57]</a:t>
            </a:r>
            <a:r>
              <a:rPr lang="zh-CN" altLang="en-US"/>
              <a:t>达到最高整体准确率</a:t>
            </a:r>
            <a:r>
              <a:rPr lang="en-US" altLang="zh-CN"/>
              <a:t> 47.0%</a:t>
            </a:r>
            <a:r>
              <a:rPr lang="zh-CN" altLang="en-US"/>
              <a:t>，</a:t>
            </a:r>
            <a:r>
              <a:rPr lang="en-US" altLang="zh-CN"/>
              <a:t>GPT-o4-mini[42]</a:t>
            </a:r>
            <a:r>
              <a:rPr lang="zh-CN" altLang="en-US"/>
              <a:t>以</a:t>
            </a:r>
            <a:r>
              <a:rPr lang="en-US" altLang="zh-CN"/>
              <a:t> 48.0% </a:t>
            </a:r>
            <a:r>
              <a:rPr lang="zh-CN" altLang="en-US"/>
              <a:t>的比例领先闭源组。在</a:t>
            </a:r>
            <a:r>
              <a:rPr lang="en-US" altLang="zh-CN"/>
              <a:t> Ego-Exo </a:t>
            </a:r>
            <a:r>
              <a:rPr lang="zh-CN" altLang="en-US"/>
              <a:t>关系类别中，</a:t>
            </a:r>
            <a:r>
              <a:rPr lang="en-US" altLang="zh-CN"/>
              <a:t>GPT-o4-mini[42]</a:t>
            </a:r>
            <a:r>
              <a:rPr lang="zh-CN" altLang="en-US"/>
              <a:t>优于</a:t>
            </a:r>
            <a:r>
              <a:rPr lang="en-US" altLang="zh-CN"/>
              <a:t>Qwen2.5-VL-72B[57]</a:t>
            </a:r>
            <a:r>
              <a:rPr lang="zh-CN" altLang="en-US"/>
              <a:t>平均下降</a:t>
            </a:r>
            <a:r>
              <a:rPr lang="en-US" altLang="zh-CN"/>
              <a:t> 5%</a:t>
            </a:r>
            <a:r>
              <a:rPr lang="zh-CN" altLang="en-US"/>
              <a:t>，表明开源架构在跨视图的显式语义对齐方面仍然落后于最先进的闭源系统。对于自我</a:t>
            </a:r>
            <a:r>
              <a:rPr lang="en-US" altLang="zh-CN"/>
              <a:t>-</a:t>
            </a:r>
            <a:r>
              <a:rPr lang="zh-CN" altLang="en-US"/>
              <a:t>外观转换和自我</a:t>
            </a:r>
            <a:r>
              <a:rPr lang="en-US" altLang="zh-CN"/>
              <a:t>-</a:t>
            </a:r>
            <a:r>
              <a:rPr lang="zh-CN" altLang="en-US"/>
              <a:t>外观时间推理，</a:t>
            </a:r>
            <a:r>
              <a:rPr lang="en-US" altLang="zh-CN"/>
              <a:t>Qwen2.5-VL-72B[57]</a:t>
            </a:r>
            <a:r>
              <a:rPr lang="zh-CN" altLang="en-US"/>
              <a:t>平均准确率分别为</a:t>
            </a:r>
            <a:r>
              <a:rPr lang="en-US" altLang="zh-CN"/>
              <a:t> 47.3% </a:t>
            </a:r>
            <a:r>
              <a:rPr lang="zh-CN" altLang="en-US"/>
              <a:t>和</a:t>
            </a:r>
            <a:r>
              <a:rPr lang="en-US" altLang="zh-CN"/>
              <a:t> 37.4%</a:t>
            </a:r>
            <a:r>
              <a:rPr lang="zh-CN" altLang="en-US"/>
              <a:t>。它在空间和视频接地方面的相对强度可能有助于在这些空间对应和序列积分任务上获得更好的性能。值得注意的是，</a:t>
            </a:r>
            <a:r>
              <a:rPr lang="en-US" altLang="zh-CN"/>
              <a:t>EgoGPT[72]</a:t>
            </a:r>
            <a:r>
              <a:rPr lang="zh-CN" altLang="en-US"/>
              <a:t>，尽管在大型以自我为中心的视频语料库</a:t>
            </a:r>
            <a:r>
              <a:rPr lang="en-US" altLang="zh-CN"/>
              <a:t> </a:t>
            </a:r>
            <a:r>
              <a:rPr lang="zh-CN" altLang="en-US"/>
              <a:t>（</a:t>
            </a:r>
            <a:r>
              <a:rPr lang="en-US" altLang="zh-CN"/>
              <a:t>EgoIT-99K</a:t>
            </a:r>
            <a:r>
              <a:rPr lang="zh-CN" altLang="en-US"/>
              <a:t>）</a:t>
            </a:r>
            <a:r>
              <a:rPr lang="en-US" altLang="zh-CN"/>
              <a:t> </a:t>
            </a:r>
            <a:r>
              <a:rPr lang="zh-CN" altLang="en-US"/>
              <a:t>上进行了微调</a:t>
            </a:r>
            <a:r>
              <a:rPr lang="en-US" altLang="zh-CN"/>
              <a:t>[72]</a:t>
            </a:r>
            <a:r>
              <a:rPr lang="zh-CN" altLang="en-US"/>
              <a:t>，与类似规模的同行相比，仅提供边际收益，这表明仅靠专门的预训练不足以掌握没有特定任务目标的跨视角推理。</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EB67C58E-6DDA-4A8C-9AD1-7E8674ADD6BE}"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lstStyle>
            <a:lvl1pPr>
              <a:defRPr/>
            </a:lvl1pPr>
          </a:lstStyle>
          <a:p>
            <a:fld id="{122EC0A0-16CA-4A55-859B-AA398DBD666C}"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lstStyle>
            <a:lvl1pPr>
              <a:defRPr/>
            </a:lvl1pPr>
          </a:lstStyle>
          <a:p>
            <a:fld id="{C536968F-8ADA-4A53-88C1-D8DA183B7D79}"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lvl1pPr>
              <a:defRPr/>
            </a:lvl1pPr>
          </a:lstStyle>
          <a:p>
            <a:fld id="{F00C1D51-DF72-488D-BB11-072F53B72AEF}"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lstStyle>
            <a:lvl1pPr>
              <a:defRPr/>
            </a:lvl1pPr>
          </a:lstStyle>
          <a:p>
            <a:fld id="{ACF2DDF2-3F0F-486D-9FDC-E9DA1775B1CB}"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12775" y="1600200"/>
            <a:ext cx="4000500" cy="45720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765675" y="1600200"/>
            <a:ext cx="4000500" cy="45720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fld id="{E9BDF92C-B9F5-4711-A6DD-F9C30C651217}" type="datetime1">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7" name="灯片编号占位符 6"/>
          <p:cNvSpPr>
            <a:spLocks noGrp="1"/>
          </p:cNvSpPr>
          <p:nvPr>
            <p:ph type="sldNum" sz="quarter" idx="12"/>
          </p:nvPr>
        </p:nvSpPr>
        <p:spPr/>
        <p:txBody>
          <a:bodyPr/>
          <a:lstStyle>
            <a:lvl1pPr>
              <a:defRPr/>
            </a:lvl1pPr>
          </a:lstStyle>
          <a:p>
            <a:fld id="{F7415849-A598-4896-8FF4-283A0236E6BB}"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fld id="{64F98DEE-7876-49BD-BD61-536BDBE93819}" type="datetime1">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r>
              <a:rPr lang="en-US" altLang="zh-CN"/>
              <a:t>Bowei </a:t>
            </a:r>
            <a:r>
              <a:rPr lang="en-US" altLang="zh-CN"/>
              <a:t>Pu - USTC</a:t>
            </a:r>
            <a:endParaRPr lang="zh-CN" altLang="en-US"/>
          </a:p>
        </p:txBody>
      </p:sp>
      <p:sp>
        <p:nvSpPr>
          <p:cNvPr id="9" name="灯片编号占位符 8"/>
          <p:cNvSpPr>
            <a:spLocks noGrp="1"/>
          </p:cNvSpPr>
          <p:nvPr>
            <p:ph type="sldNum" sz="quarter" idx="12"/>
          </p:nvPr>
        </p:nvSpPr>
        <p:spPr/>
        <p:txBody>
          <a:bodyPr/>
          <a:lstStyle>
            <a:lvl1pPr>
              <a:defRPr/>
            </a:lvl1pPr>
          </a:lstStyle>
          <a:p>
            <a:fld id="{11ADFF7E-5BC2-440D-9E58-996AE98C6011}"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964E75D5-08D5-4713-A2CF-A8CEC3894574}"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5" name="灯片编号占位符 4"/>
          <p:cNvSpPr>
            <a:spLocks noGrp="1"/>
          </p:cNvSpPr>
          <p:nvPr>
            <p:ph type="sldNum" sz="quarter" idx="12"/>
          </p:nvPr>
        </p:nvSpPr>
        <p:spPr/>
        <p:txBody>
          <a:bodyPr/>
          <a:lstStyle>
            <a:lvl1pPr>
              <a:defRPr/>
            </a:lvl1pPr>
          </a:lstStyle>
          <a:p>
            <a:fld id="{3206AAC3-1B79-4A76-AB03-DC3F57F1731C}"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1954B86E-B8F6-455D-92F5-B74168376785}" type="datetime1">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4" name="灯片编号占位符 3"/>
          <p:cNvSpPr>
            <a:spLocks noGrp="1"/>
          </p:cNvSpPr>
          <p:nvPr>
            <p:ph type="sldNum" sz="quarter" idx="12"/>
          </p:nvPr>
        </p:nvSpPr>
        <p:spPr/>
        <p:txBody>
          <a:bodyPr/>
          <a:lstStyle>
            <a:lvl1pPr>
              <a:defRPr/>
            </a:lvl1pPr>
          </a:lstStyle>
          <a:p>
            <a:fld id="{D5851209-3603-471C-BDA4-EA3C299212CC}"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lvl1pPr>
              <a:defRPr/>
            </a:lvl1pPr>
          </a:lstStyle>
          <a:p>
            <a:fld id="{AC57AE8B-0183-4E95-8D40-132F56A8FD30}" type="datetime1">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7" name="灯片编号占位符 6"/>
          <p:cNvSpPr>
            <a:spLocks noGrp="1"/>
          </p:cNvSpPr>
          <p:nvPr>
            <p:ph type="sldNum" sz="quarter" idx="12"/>
          </p:nvPr>
        </p:nvSpPr>
        <p:spPr/>
        <p:txBody>
          <a:bodyPr/>
          <a:lstStyle>
            <a:lvl1pPr>
              <a:defRPr/>
            </a:lvl1pPr>
          </a:lstStyle>
          <a:p>
            <a:fld id="{DAE00C60-BA3D-4E3E-BDB9-3F058B16A116}"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lvl1pPr>
              <a:defRPr/>
            </a:lvl1pPr>
          </a:lstStyle>
          <a:p>
            <a:fld id="{3B68FA63-0B4F-42D2-AC16-5BDEF5FD3701}" type="datetime1">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7" name="灯片编号占位符 6"/>
          <p:cNvSpPr>
            <a:spLocks noGrp="1"/>
          </p:cNvSpPr>
          <p:nvPr>
            <p:ph type="sldNum" sz="quarter" idx="12"/>
          </p:nvPr>
        </p:nvSpPr>
        <p:spPr/>
        <p:txBody>
          <a:bodyPr/>
          <a:lstStyle>
            <a:lvl1pPr>
              <a:defRPr/>
            </a:lvl1pPr>
          </a:lstStyle>
          <a:p>
            <a:fld id="{EDE0C130-6BED-4836-BD93-402B53B2B5E6}"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234B4984-725B-4990-9F38-028772280879}"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lstStyle>
            <a:lvl1pPr>
              <a:defRPr/>
            </a:lvl1pPr>
          </a:lstStyle>
          <a:p>
            <a:fld id="{A0405F9B-738B-4B86-AD27-E7E8EDF57148}"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7825" y="215900"/>
            <a:ext cx="2038350" cy="5956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12775" y="215900"/>
            <a:ext cx="5962650" cy="5956300"/>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A94EA032-F196-46AF-BDB7-D1FB31BABA0E}"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lstStyle>
            <a:lvl1pPr>
              <a:defRPr/>
            </a:lvl1pPr>
          </a:lstStyle>
          <a:p>
            <a:fld id="{6AE16F06-B301-439C-9936-C92F0B0EF851}"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21"/>
          <p:cNvSpPr>
            <a:spLocks noGrp="1" noChangeArrowheads="1"/>
          </p:cNvSpPr>
          <p:nvPr>
            <p:ph type="title"/>
          </p:nvPr>
        </p:nvSpPr>
        <p:spPr bwMode="auto">
          <a:xfrm>
            <a:off x="612775" y="2159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dirty="0"/>
              <a:t>单击此处编辑母版标题样式</a:t>
            </a:r>
            <a:endParaRPr lang="zh-CN" altLang="zh-CN" dirty="0"/>
          </a:p>
        </p:txBody>
      </p:sp>
      <p:sp>
        <p:nvSpPr>
          <p:cNvPr id="1027" name="文本占位符 12"/>
          <p:cNvSpPr>
            <a:spLocks noGrp="1" noChangeArrowheads="1"/>
          </p:cNvSpPr>
          <p:nvPr>
            <p:ph type="body" idx="1"/>
          </p:nvPr>
        </p:nvSpPr>
        <p:spPr bwMode="auto">
          <a:xfrm>
            <a:off x="612775"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028" name="日期占位符 13"/>
          <p:cNvSpPr>
            <a:spLocks noGrp="1" noChangeArrowheads="1"/>
          </p:cNvSpPr>
          <p:nvPr>
            <p:ph type="dt" sz="half" idx="2"/>
          </p:nvPr>
        </p:nvSpPr>
        <p:spPr bwMode="auto">
          <a:xfrm>
            <a:off x="3240087" y="6423068"/>
            <a:ext cx="2663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400">
                <a:solidFill>
                  <a:schemeClr val="tx2"/>
                </a:solidFill>
                <a:latin typeface="+mn-lt"/>
                <a:ea typeface="+mn-ea"/>
              </a:defRPr>
            </a:lvl1pPr>
          </a:lstStyle>
          <a:p>
            <a:fld id="{92932ADE-FC92-47F7-9626-54CE1B797811}" type="datetime1">
              <a:rPr lang="zh-CN" altLang="en-US" smtClean="0"/>
            </a:fld>
            <a:endParaRPr lang="zh-CN" altLang="en-US"/>
          </a:p>
        </p:txBody>
      </p:sp>
      <p:sp>
        <p:nvSpPr>
          <p:cNvPr id="1029" name="页脚占位符 2"/>
          <p:cNvSpPr>
            <a:spLocks noGrp="1" noChangeArrowheads="1"/>
          </p:cNvSpPr>
          <p:nvPr>
            <p:ph type="ftr" sz="quarter" idx="3"/>
          </p:nvPr>
        </p:nvSpPr>
        <p:spPr bwMode="auto">
          <a:xfrm>
            <a:off x="612775" y="6423068"/>
            <a:ext cx="244705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400">
                <a:solidFill>
                  <a:schemeClr val="tx2"/>
                </a:solidFill>
                <a:latin typeface="+mn-lt"/>
                <a:ea typeface="+mn-ea"/>
              </a:defRPr>
            </a:lvl1pPr>
          </a:lstStyle>
          <a:p>
            <a:r>
              <a:rPr lang="en-US" altLang="zh-CN">
                <a:sym typeface="+mn-ea"/>
              </a:rPr>
              <a:t>Bowei Pu</a:t>
            </a:r>
            <a:r>
              <a:rPr lang="en-US" altLang="zh-CN" dirty="0"/>
              <a:t> - USTC</a:t>
            </a:r>
            <a:endParaRPr lang="zh-CN" altLang="en-US" dirty="0"/>
          </a:p>
        </p:txBody>
      </p:sp>
      <p:sp>
        <p:nvSpPr>
          <p:cNvPr id="1030" name="矩形 6"/>
          <p:cNvSpPr>
            <a:spLocks noChangeArrowheads="1"/>
          </p:cNvSpPr>
          <p:nvPr/>
        </p:nvSpPr>
        <p:spPr bwMode="auto">
          <a:xfrm>
            <a:off x="0" y="1241425"/>
            <a:ext cx="9144000" cy="323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en-US" altLang="zh-CN">
              <a:solidFill>
                <a:srgbClr val="FFFFFF"/>
              </a:solidFill>
              <a:latin typeface="Palatino Linotype" panose="02040502050505030304" pitchFamily="18" charset="0"/>
              <a:ea typeface="仿宋" panose="02010609060101010101" pitchFamily="49" charset="-122"/>
            </a:endParaRPr>
          </a:p>
        </p:txBody>
      </p:sp>
      <p:sp>
        <p:nvSpPr>
          <p:cNvPr id="1031" name="矩形 7"/>
          <p:cNvSpPr>
            <a:spLocks noChangeArrowheads="1"/>
          </p:cNvSpPr>
          <p:nvPr/>
        </p:nvSpPr>
        <p:spPr bwMode="auto">
          <a:xfrm>
            <a:off x="0" y="1289050"/>
            <a:ext cx="539750" cy="228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en-US" altLang="zh-CN">
              <a:solidFill>
                <a:srgbClr val="FFFFFF"/>
              </a:solidFill>
              <a:latin typeface="Palatino Linotype" panose="02040502050505030304" pitchFamily="18" charset="0"/>
              <a:ea typeface="仿宋" panose="02010609060101010101" pitchFamily="49" charset="-122"/>
            </a:endParaRPr>
          </a:p>
        </p:txBody>
      </p:sp>
      <p:sp>
        <p:nvSpPr>
          <p:cNvPr id="1032" name="矩形 8"/>
          <p:cNvSpPr>
            <a:spLocks noChangeArrowheads="1"/>
          </p:cNvSpPr>
          <p:nvPr/>
        </p:nvSpPr>
        <p:spPr bwMode="auto">
          <a:xfrm>
            <a:off x="612775" y="1289050"/>
            <a:ext cx="8531225"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en-US" altLang="zh-CN">
              <a:solidFill>
                <a:srgbClr val="FFFFFF"/>
              </a:solidFill>
              <a:latin typeface="Palatino Linotype" panose="02040502050505030304" pitchFamily="18" charset="0"/>
              <a:ea typeface="仿宋" panose="02010609060101010101" pitchFamily="49" charset="-122"/>
            </a:endParaRPr>
          </a:p>
        </p:txBody>
      </p:sp>
      <p:sp>
        <p:nvSpPr>
          <p:cNvPr id="1033" name="灯片编号占位符 22"/>
          <p:cNvSpPr>
            <a:spLocks noGrp="1" noChangeArrowheads="1"/>
          </p:cNvSpPr>
          <p:nvPr>
            <p:ph type="sldNum" sz="quarter" idx="4"/>
          </p:nvPr>
        </p:nvSpPr>
        <p:spPr bwMode="auto">
          <a:xfrm>
            <a:off x="0" y="1289050"/>
            <a:ext cx="5397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400" b="1">
                <a:solidFill>
                  <a:srgbClr val="FFFFFF"/>
                </a:solidFill>
                <a:latin typeface="+mn-lt"/>
                <a:ea typeface="+mn-ea"/>
              </a:defRPr>
            </a:lvl1pPr>
          </a:lstStyle>
          <a:p>
            <a:fld id="{BA57F85E-72CE-4B97-9356-AB52C252E77F}" type="slidenum">
              <a:rPr lang="zh-CN" altLang="en-US"/>
            </a:fld>
            <a:endParaRPr lang="zh-CN" altLang="en-US"/>
          </a:p>
        </p:txBody>
      </p:sp>
      <p:pic>
        <p:nvPicPr>
          <p:cNvPr id="3" name="图片 2"/>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7882342" y="232137"/>
            <a:ext cx="883833" cy="908769"/>
          </a:xfrm>
          <a:prstGeom prst="rect">
            <a:avLst/>
          </a:prstGeom>
        </p:spPr>
      </p:pic>
      <p:sp>
        <p:nvSpPr>
          <p:cNvPr id="12" name="日期占位符 13"/>
          <p:cNvSpPr txBox="1">
            <a:spLocks noChangeArrowheads="1"/>
          </p:cNvSpPr>
          <p:nvPr userDrawn="1"/>
        </p:nvSpPr>
        <p:spPr bwMode="auto">
          <a:xfrm>
            <a:off x="6012160" y="6423068"/>
            <a:ext cx="275401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zh-CN"/>
            </a:defPPr>
            <a:lvl1pPr algn="l" rtl="0" fontAlgn="base">
              <a:spcBef>
                <a:spcPct val="0"/>
              </a:spcBef>
              <a:spcAft>
                <a:spcPct val="0"/>
              </a:spcAft>
              <a:buFont typeface="Arial" panose="020B0604020202090204" pitchFamily="34" charset="0"/>
              <a:defRPr sz="1400" kern="1200">
                <a:solidFill>
                  <a:schemeClr val="tx2"/>
                </a:solidFill>
                <a:latin typeface="+mn-lt"/>
                <a:ea typeface="+mn-ea"/>
                <a:cs typeface="+mn-cs"/>
              </a:defRPr>
            </a:lvl1pPr>
            <a:lvl2pPr marL="4572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dirty="0"/>
          </a:p>
        </p:txBody>
      </p:sp>
      <p:pic>
        <p:nvPicPr>
          <p:cNvPr id="4" name="Picture 2" descr="http://imcc.ustc.edu.cn/images/logo.png"/>
          <p:cNvPicPr>
            <a:picLocks noChangeAspect="1" noChangeArrowheads="1"/>
          </p:cNvPicPr>
          <p:nvPr userDrawn="1"/>
        </p:nvPicPr>
        <p:blipFill rotWithShape="1">
          <a:blip r:embed="rId13" cstate="hqprint">
            <a:extLst>
              <a:ext uri="{28A0092B-C50C-407E-A947-70E740481C1C}">
                <a14:useLocalDpi xmlns:a14="http://schemas.microsoft.com/office/drawing/2010/main" val="0"/>
              </a:ext>
            </a:extLst>
          </a:blip>
          <a:srcRect l="24311"/>
          <a:stretch>
            <a:fillRect/>
          </a:stretch>
        </p:blipFill>
        <p:spPr bwMode="auto">
          <a:xfrm>
            <a:off x="6841501" y="6222030"/>
            <a:ext cx="2032922" cy="63597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5pPr>
      <a:lvl6pPr marL="457200"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6pPr>
      <a:lvl7pPr marL="914400"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7pPr>
      <a:lvl8pPr marL="1371600"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8pPr>
      <a:lvl9pPr marL="1828800" algn="l"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defRPr>
      </a:lvl9pPr>
    </p:titleStyle>
    <p:bodyStyle>
      <a:lvl1pPr marL="319405" indent="-319405" algn="l" rtl="0" eaLnBrk="0" fontAlgn="base" hangingPunct="0">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40080" indent="-273050" algn="l" rtl="0" eaLnBrk="0" fontAlgn="base" hangingPunct="0">
        <a:spcBef>
          <a:spcPts val="550"/>
        </a:spcBef>
        <a:spcAft>
          <a:spcPct val="0"/>
        </a:spcAft>
        <a:buClr>
          <a:schemeClr val="accent1"/>
        </a:buClr>
        <a:buSzPct val="70000"/>
        <a:buFont typeface="Wingdings" panose="05000000000000000000" pitchFamily="2"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arxiv.org/html/2507.18342v1#bib.bib57" TargetMode="Externa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image" Target="../media/image16.png"/><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8.xml"/><Relationship Id="rId2" Type="http://schemas.openxmlformats.org/officeDocument/2006/relationships/image" Target="../media/image18.png"/><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10.xml"/><Relationship Id="rId2" Type="http://schemas.openxmlformats.org/officeDocument/2006/relationships/image" Target="../media/image18.png"/><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996315" y="2204720"/>
            <a:ext cx="7285990" cy="1082675"/>
          </a:xfrm>
        </p:spPr>
        <p:txBody>
          <a:bodyPr/>
          <a:p>
            <a:r>
              <a:rPr lang="zh-CN" altLang="en-US" sz="4400"/>
              <a:t>第一人称</a:t>
            </a:r>
            <a:r>
              <a:rPr lang="en-US" altLang="zh-CN" sz="4400"/>
              <a:t>(Ego)</a:t>
            </a:r>
            <a:r>
              <a:rPr lang="zh-CN" altLang="en-US" sz="4400"/>
              <a:t>视频理解</a:t>
            </a:r>
            <a:endParaRPr lang="zh-CN" altLang="en-US" sz="4400"/>
          </a:p>
        </p:txBody>
      </p:sp>
      <p:sp>
        <p:nvSpPr>
          <p:cNvPr id="3" name="副标题 2"/>
          <p:cNvSpPr>
            <a:spLocks noGrp="1"/>
          </p:cNvSpPr>
          <p:nvPr>
            <p:ph type="subTitle" idx="1"/>
          </p:nvPr>
        </p:nvSpPr>
        <p:spPr>
          <a:xfrm>
            <a:off x="1187450" y="4725035"/>
            <a:ext cx="6858000" cy="1096010"/>
          </a:xfrm>
        </p:spPr>
        <p:txBody>
          <a:bodyPr/>
          <a:p>
            <a:r>
              <a:rPr lang="zh-CN" altLang="en-US"/>
              <a:t>浦博威</a:t>
            </a:r>
            <a:endParaRPr lang="zh-CN" altLang="en-US"/>
          </a:p>
          <a:p>
            <a:r>
              <a:rPr lang="en-US" altLang="zh-CN"/>
              <a:t>2025.10</a:t>
            </a:r>
            <a:endParaRPr lang="en-US" altLang="zh-CN"/>
          </a:p>
        </p:txBody>
      </p:sp>
      <p:sp>
        <p:nvSpPr>
          <p:cNvPr id="4" name="文本框 3"/>
          <p:cNvSpPr txBox="1"/>
          <p:nvPr/>
        </p:nvSpPr>
        <p:spPr>
          <a:xfrm>
            <a:off x="389255" y="565785"/>
            <a:ext cx="3048000" cy="368300"/>
          </a:xfrm>
          <a:prstGeom prst="rect">
            <a:avLst/>
          </a:prstGeom>
          <a:noFill/>
        </p:spPr>
        <p:txBody>
          <a:bodyPr wrap="square" rtlCol="0">
            <a:spAutoFit/>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pic>
        <p:nvPicPr>
          <p:cNvPr id="11" name="图片 10"/>
          <p:cNvPicPr>
            <a:picLocks noChangeAspect="1"/>
          </p:cNvPicPr>
          <p:nvPr/>
        </p:nvPicPr>
        <p:blipFill>
          <a:blip r:embed="rId1"/>
          <a:stretch>
            <a:fillRect/>
          </a:stretch>
        </p:blipFill>
        <p:spPr>
          <a:xfrm>
            <a:off x="1979295" y="836295"/>
            <a:ext cx="5045075" cy="5770880"/>
          </a:xfrm>
          <a:prstGeom prst="rect">
            <a:avLst/>
          </a:prstGeom>
        </p:spPr>
      </p:pic>
      <p:sp>
        <p:nvSpPr>
          <p:cNvPr id="12" name="文本框 11"/>
          <p:cNvSpPr txBox="1"/>
          <p:nvPr/>
        </p:nvSpPr>
        <p:spPr>
          <a:xfrm>
            <a:off x="323215" y="548640"/>
            <a:ext cx="3048000" cy="460375"/>
          </a:xfrm>
          <a:prstGeom prst="rect">
            <a:avLst/>
          </a:prstGeom>
          <a:noFill/>
        </p:spPr>
        <p:txBody>
          <a:bodyPr wrap="square" rtlCol="0">
            <a:spAutoFit/>
          </a:bodyPr>
          <a:p>
            <a:r>
              <a:rPr lang="zh-CN" altLang="en-US" sz="2400">
                <a:latin typeface="等线" panose="02010600030101010101" charset="-122"/>
                <a:ea typeface="等线" panose="02010600030101010101" charset="-122"/>
              </a:rPr>
              <a:t>基础数据集介绍</a:t>
            </a:r>
            <a:endParaRPr lang="zh-CN" altLang="en-US" sz="2400">
              <a:latin typeface="等线" panose="02010600030101010101" charset="-122"/>
              <a:ea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107315" y="548957"/>
            <a:ext cx="5080000" cy="583565"/>
          </a:xfrm>
          <a:prstGeom prst="rect">
            <a:avLst/>
          </a:prstGeom>
        </p:spPr>
        <p:txBody>
          <a:bodyPr>
            <a:spAutoFit/>
          </a:bodyPr>
          <a:p>
            <a:r>
              <a:rPr lang="en-US" altLang="zh-CN" sz="1600"/>
              <a:t>Ego-Exo4D: Understanding Skilled Human Activity from First- and Third-Person Perspectives</a:t>
            </a:r>
            <a:endParaRPr lang="en-US" altLang="zh-CN" sz="1600"/>
          </a:p>
        </p:txBody>
      </p:sp>
      <p:pic>
        <p:nvPicPr>
          <p:cNvPr id="3" name="图片 2"/>
          <p:cNvPicPr>
            <a:picLocks noChangeAspect="1"/>
          </p:cNvPicPr>
          <p:nvPr/>
        </p:nvPicPr>
        <p:blipFill>
          <a:blip r:embed="rId1"/>
          <a:srcRect t="8398" b="16832"/>
          <a:stretch>
            <a:fillRect/>
          </a:stretch>
        </p:blipFill>
        <p:spPr>
          <a:xfrm>
            <a:off x="1043305" y="1659890"/>
            <a:ext cx="6915150" cy="3538220"/>
          </a:xfrm>
          <a:prstGeom prst="rect">
            <a:avLst/>
          </a:prstGeom>
        </p:spPr>
      </p:pic>
      <p:sp>
        <p:nvSpPr>
          <p:cNvPr id="7" name="文本框 6"/>
          <p:cNvSpPr txBox="1"/>
          <p:nvPr/>
        </p:nvSpPr>
        <p:spPr>
          <a:xfrm>
            <a:off x="683260" y="5346700"/>
            <a:ext cx="7613015" cy="1076325"/>
          </a:xfrm>
          <a:prstGeom prst="rect">
            <a:avLst/>
          </a:prstGeom>
        </p:spPr>
        <p:txBody>
          <a:bodyPr wrap="square">
            <a:spAutoFit/>
          </a:bodyPr>
          <a:p>
            <a:pPr marL="0" indent="0" algn="just"/>
            <a:r>
              <a:rPr lang="zh-CN" altLang="en-US" sz="1600" b="0" i="0">
                <a:solidFill>
                  <a:srgbClr val="000000"/>
                </a:solidFill>
                <a:latin typeface="rival-sans"/>
                <a:ea typeface="rival-sans"/>
              </a:rPr>
              <a:t>第一人称（</a:t>
            </a:r>
            <a:r>
              <a:rPr lang="en-US" altLang="zh-CN" sz="1600" b="0" i="0">
                <a:solidFill>
                  <a:srgbClr val="000000"/>
                </a:solidFill>
                <a:latin typeface="Times New Roman" panose="02020503050405090304" charset="0"/>
                <a:ea typeface="rival-sans"/>
                <a:cs typeface="Times New Roman" panose="02020503050405090304" charset="0"/>
              </a:rPr>
              <a:t>ego</a:t>
            </a:r>
            <a:r>
              <a:rPr lang="zh-CN" altLang="en-US" sz="1600" b="0" i="0">
                <a:solidFill>
                  <a:srgbClr val="000000"/>
                </a:solidFill>
                <a:latin typeface="rival-sans"/>
                <a:ea typeface="rival-sans"/>
              </a:rPr>
              <a:t>）视角捕捉近距离手与物体互动的细节和相机佩戴者的注意力，</a:t>
            </a:r>
            <a:endParaRPr lang="zh-CN" altLang="en-US" sz="1600" b="0" i="0">
              <a:solidFill>
                <a:srgbClr val="000000"/>
              </a:solidFill>
              <a:latin typeface="rival-sans"/>
              <a:ea typeface="rival-sans"/>
            </a:endParaRPr>
          </a:p>
          <a:p>
            <a:pPr marL="0" indent="0" algn="just"/>
            <a:r>
              <a:rPr lang="en-US" altLang="zh-CN" sz="1600" b="0" i="0">
                <a:solidFill>
                  <a:srgbClr val="000000"/>
                </a:solidFill>
                <a:latin typeface="Times New Roman" panose="02020503050405090304" charset="0"/>
                <a:ea typeface="rival-sans"/>
                <a:cs typeface="Times New Roman" panose="02020503050405090304" charset="0"/>
              </a:rPr>
              <a:t>第三</a:t>
            </a:r>
            <a:r>
              <a:rPr lang="zh-CN" altLang="en-US" sz="1600" b="0" i="0">
                <a:solidFill>
                  <a:srgbClr val="000000"/>
                </a:solidFill>
                <a:latin typeface="rival-sans"/>
                <a:ea typeface="rival-sans"/>
              </a:rPr>
              <a:t>人称（</a:t>
            </a:r>
            <a:r>
              <a:rPr lang="en-US" altLang="zh-CN" sz="1600" b="0" i="0">
                <a:solidFill>
                  <a:srgbClr val="000000"/>
                </a:solidFill>
                <a:latin typeface="Times New Roman" panose="02020503050405090304" charset="0"/>
                <a:ea typeface="rival-sans"/>
                <a:cs typeface="Times New Roman" panose="02020503050405090304" charset="0"/>
              </a:rPr>
              <a:t>exo）</a:t>
            </a:r>
            <a:r>
              <a:rPr lang="zh-CN" altLang="en-US" sz="1600" b="0" i="0">
                <a:solidFill>
                  <a:srgbClr val="000000"/>
                </a:solidFill>
                <a:latin typeface="rival-sans"/>
                <a:ea typeface="rival-sans"/>
              </a:rPr>
              <a:t>视角捕捉全身姿势和周围环境背景。教学或“作方法”视频经常在演示者的第三人称视角和近场演示的特写视图之间交替出现。</a:t>
            </a:r>
            <a:endParaRPr lang="zh-CN" altLang="en-US" sz="1600" b="0" i="0">
              <a:solidFill>
                <a:srgbClr val="000000"/>
              </a:solidFill>
              <a:latin typeface="rival-sans"/>
              <a:ea typeface="rival-sans"/>
            </a:endParaRPr>
          </a:p>
          <a:p>
            <a:pPr marL="0" indent="0" algn="just"/>
            <a:endParaRPr lang="zh-CN" altLang="en-US" sz="1600" b="0" i="0">
              <a:solidFill>
                <a:srgbClr val="000000"/>
              </a:solidFill>
              <a:latin typeface="rival-sans"/>
              <a:ea typeface="rival-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7" name="文本框 6"/>
          <p:cNvSpPr txBox="1"/>
          <p:nvPr/>
        </p:nvSpPr>
        <p:spPr>
          <a:xfrm>
            <a:off x="107315" y="548957"/>
            <a:ext cx="5080000" cy="583565"/>
          </a:xfrm>
          <a:prstGeom prst="rect">
            <a:avLst/>
          </a:prstGeom>
        </p:spPr>
        <p:txBody>
          <a:bodyPr>
            <a:spAutoFit/>
          </a:bodyPr>
          <a:p>
            <a:r>
              <a:rPr lang="en-US" altLang="zh-CN" sz="1600"/>
              <a:t>Ego-Exo4D: Understanding Skilled Human Activity from First- and Third-Person Perspectives</a:t>
            </a:r>
            <a:endParaRPr lang="en-US" altLang="zh-CN" sz="1600"/>
          </a:p>
        </p:txBody>
      </p:sp>
      <p:sp>
        <p:nvSpPr>
          <p:cNvPr id="8" name="文本框 7"/>
          <p:cNvSpPr txBox="1"/>
          <p:nvPr/>
        </p:nvSpPr>
        <p:spPr>
          <a:xfrm>
            <a:off x="107950" y="2276475"/>
            <a:ext cx="8982710" cy="1322070"/>
          </a:xfrm>
          <a:prstGeom prst="rect">
            <a:avLst/>
          </a:prstGeom>
        </p:spPr>
        <p:txBody>
          <a:bodyPr wrap="square">
            <a:spAutoFit/>
          </a:bodyPr>
          <a:p>
            <a:pPr marL="0" algn="l">
              <a:buClrTx/>
              <a:buSzTx/>
              <a:buNone/>
            </a:pPr>
            <a:r>
              <a:rPr lang="en-US" altLang="zh-CN" sz="1600" b="0">
                <a:solidFill>
                  <a:srgbClr val="000000"/>
                </a:solidFill>
                <a:latin typeface="Times New Roman" panose="02020503050405090304" charset="0"/>
                <a:ea typeface="rival-sans"/>
                <a:cs typeface="Times New Roman" panose="02020503050405090304" charset="0"/>
              </a:rPr>
              <a:t>1.ego-exo relation</a:t>
            </a:r>
            <a:r>
              <a:rPr lang="en-US" altLang="zh-CN" sz="1600" b="0" i="0">
                <a:solidFill>
                  <a:srgbClr val="000000"/>
                </a:solidFill>
                <a:latin typeface="Times New Roman" panose="02020503050405090304" charset="0"/>
                <a:ea typeface="rival-sans"/>
                <a:cs typeface="Times New Roman" panose="02020503050405090304" charset="0"/>
              </a:rPr>
              <a:t>, for relating the actions of a teacher (exo) to a learner (ego) by estimating semantic correspondences and translating viewpoints;</a:t>
            </a:r>
            <a:endParaRPr lang="en-US" altLang="zh-CN" sz="1600" b="0" i="0">
              <a:solidFill>
                <a:srgbClr val="000000"/>
              </a:solidFill>
              <a:latin typeface="Times New Roman" panose="02020503050405090304" charset="0"/>
              <a:ea typeface="rival-sans"/>
              <a:cs typeface="Times New Roman" panose="02020503050405090304" charset="0"/>
            </a:endParaRPr>
          </a:p>
          <a:p>
            <a:pPr marL="0" algn="l">
              <a:buClrTx/>
              <a:buSzTx/>
              <a:buNone/>
            </a:pPr>
            <a:r>
              <a:rPr lang="en-US" altLang="zh-CN" sz="1600" b="0">
                <a:solidFill>
                  <a:srgbClr val="000000"/>
                </a:solidFill>
                <a:latin typeface="Times New Roman" panose="02020503050405090304" charset="0"/>
                <a:ea typeface="rival-sans"/>
                <a:cs typeface="Times New Roman" panose="02020503050405090304" charset="0"/>
              </a:rPr>
              <a:t>2.ego(-exo) recognition</a:t>
            </a:r>
            <a:r>
              <a:rPr lang="en-US" altLang="zh-CN" sz="1600" b="0" i="0">
                <a:solidFill>
                  <a:srgbClr val="000000"/>
                </a:solidFill>
                <a:latin typeface="Times New Roman" panose="02020503050405090304" charset="0"/>
                <a:ea typeface="rival-sans"/>
                <a:cs typeface="Times New Roman" panose="02020503050405090304" charset="0"/>
              </a:rPr>
              <a:t>, for recognizing fine-grained keysteps and task structure; </a:t>
            </a:r>
            <a:endParaRPr lang="en-US" altLang="zh-CN" sz="1600" b="0" i="0">
              <a:solidFill>
                <a:srgbClr val="000000"/>
              </a:solidFill>
              <a:latin typeface="Times New Roman" panose="02020503050405090304" charset="0"/>
              <a:ea typeface="rival-sans"/>
              <a:cs typeface="Times New Roman" panose="02020503050405090304" charset="0"/>
            </a:endParaRPr>
          </a:p>
          <a:p>
            <a:pPr marL="0" algn="l">
              <a:buClrTx/>
              <a:buSzTx/>
            </a:pPr>
            <a:r>
              <a:rPr lang="en-US" altLang="zh-CN" sz="1600" b="0">
                <a:solidFill>
                  <a:srgbClr val="000000"/>
                </a:solidFill>
                <a:latin typeface="Times New Roman" panose="02020503050405090304" charset="0"/>
                <a:ea typeface="rival-sans"/>
                <a:cs typeface="Times New Roman" panose="02020503050405090304" charset="0"/>
              </a:rPr>
              <a:t>3.ego(-exo) proficiency estimation</a:t>
            </a:r>
            <a:r>
              <a:rPr lang="en-US" altLang="zh-CN" sz="1600" b="0" i="0">
                <a:solidFill>
                  <a:srgbClr val="000000"/>
                </a:solidFill>
                <a:latin typeface="Times New Roman" panose="02020503050405090304" charset="0"/>
                <a:ea typeface="rival-sans"/>
                <a:cs typeface="Times New Roman" panose="02020503050405090304" charset="0"/>
              </a:rPr>
              <a:t>, for inferring how well a person is executing a skill;</a:t>
            </a:r>
            <a:endParaRPr lang="en-US" altLang="zh-CN" sz="1600" b="0" i="0">
              <a:solidFill>
                <a:srgbClr val="000000"/>
              </a:solidFill>
              <a:latin typeface="Times New Roman" panose="02020503050405090304" charset="0"/>
              <a:ea typeface="rival-sans"/>
              <a:cs typeface="Times New Roman" panose="02020503050405090304" charset="0"/>
            </a:endParaRPr>
          </a:p>
          <a:p>
            <a:pPr marL="0" algn="l">
              <a:buClrTx/>
              <a:buSzTx/>
            </a:pPr>
            <a:r>
              <a:rPr lang="en-US" altLang="zh-CN" sz="1600" b="0">
                <a:solidFill>
                  <a:srgbClr val="000000"/>
                </a:solidFill>
                <a:latin typeface="Times New Roman" panose="02020503050405090304" charset="0"/>
                <a:ea typeface="rival-sans"/>
                <a:cs typeface="Times New Roman" panose="02020503050405090304" charset="0"/>
              </a:rPr>
              <a:t>4.ego pose</a:t>
            </a:r>
            <a:r>
              <a:rPr lang="en-US" altLang="zh-CN" sz="1600" b="0" i="0">
                <a:solidFill>
                  <a:srgbClr val="000000"/>
                </a:solidFill>
                <a:latin typeface="Times New Roman" panose="02020503050405090304" charset="0"/>
                <a:ea typeface="rival-sans"/>
                <a:cs typeface="Times New Roman" panose="02020503050405090304" charset="0"/>
              </a:rPr>
              <a:t>, for recovering skilled 3D body and hand movements from ego-video.</a:t>
            </a:r>
            <a:endParaRPr lang="en-US" altLang="zh-CN" sz="1600" b="0" i="0">
              <a:solidFill>
                <a:srgbClr val="000000"/>
              </a:solidFill>
              <a:latin typeface="Times New Roman" panose="02020503050405090304" charset="0"/>
              <a:ea typeface="rival-sans"/>
              <a:cs typeface="Times New Roman" panose="02020503050405090304" charset="0"/>
            </a:endParaRPr>
          </a:p>
        </p:txBody>
      </p:sp>
      <p:sp>
        <p:nvSpPr>
          <p:cNvPr id="9" name="文本框 8"/>
          <p:cNvSpPr txBox="1"/>
          <p:nvPr/>
        </p:nvSpPr>
        <p:spPr>
          <a:xfrm>
            <a:off x="191770" y="1772285"/>
            <a:ext cx="3048000" cy="368300"/>
          </a:xfrm>
          <a:prstGeom prst="rect">
            <a:avLst/>
          </a:prstGeom>
          <a:noFill/>
        </p:spPr>
        <p:txBody>
          <a:bodyPr wrap="square" rtlCol="0">
            <a:spAutoFit/>
          </a:bodyPr>
          <a:p>
            <a:r>
              <a:rPr lang="zh-CN" altLang="en-US"/>
              <a:t>四项基础</a:t>
            </a:r>
            <a:r>
              <a:rPr lang="zh-CN" altLang="en-US"/>
              <a:t>任务</a:t>
            </a:r>
            <a:endParaRPr lang="zh-CN" altLang="en-US"/>
          </a:p>
        </p:txBody>
      </p:sp>
      <p:pic>
        <p:nvPicPr>
          <p:cNvPr id="10" name="图片 9"/>
          <p:cNvPicPr>
            <a:picLocks noChangeAspect="1"/>
          </p:cNvPicPr>
          <p:nvPr/>
        </p:nvPicPr>
        <p:blipFill>
          <a:blip r:embed="rId1"/>
          <a:stretch>
            <a:fillRect/>
          </a:stretch>
        </p:blipFill>
        <p:spPr>
          <a:xfrm>
            <a:off x="467360" y="3598545"/>
            <a:ext cx="7571105" cy="2529205"/>
          </a:xfrm>
          <a:prstGeom prst="rect">
            <a:avLst/>
          </a:prstGeom>
        </p:spPr>
      </p:pic>
      <p:sp>
        <p:nvSpPr>
          <p:cNvPr id="2" name="文本框 1"/>
          <p:cNvSpPr txBox="1"/>
          <p:nvPr/>
        </p:nvSpPr>
        <p:spPr>
          <a:xfrm>
            <a:off x="2032000" y="3137217"/>
            <a:ext cx="5080000" cy="583565"/>
          </a:xfrm>
          <a:prstGeom prst="rect">
            <a:avLst/>
          </a:prstGeom>
        </p:spPr>
        <p:txBody>
          <a:bodyPr>
            <a:spAutoFit/>
          </a:bodyPr>
          <a:p>
            <a:r>
              <a:rPr lang="en-US" altLang="zh-CN" sz="1600"/>
              <a:t>Ego4D Goal-Step: Toward Hierarchical Understanding of Procedural Activities</a:t>
            </a:r>
            <a:endParaRPr lang="en-US" altLang="zh-CN"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7" name="文本框 6"/>
          <p:cNvSpPr txBox="1"/>
          <p:nvPr/>
        </p:nvSpPr>
        <p:spPr>
          <a:xfrm>
            <a:off x="107315" y="548957"/>
            <a:ext cx="5080000" cy="583565"/>
          </a:xfrm>
          <a:prstGeom prst="rect">
            <a:avLst/>
          </a:prstGeom>
        </p:spPr>
        <p:txBody>
          <a:bodyPr>
            <a:spAutoFit/>
          </a:bodyPr>
          <a:p>
            <a:r>
              <a:rPr lang="en-US" altLang="zh-CN" sz="1600">
                <a:sym typeface="+mn-ea"/>
              </a:rPr>
              <a:t>Ego4D Goal-Step: Toward Hierarchical Understanding of Procedural Activities</a:t>
            </a:r>
            <a:endParaRPr lang="en-US" altLang="zh-CN" sz="1600"/>
          </a:p>
        </p:txBody>
      </p:sp>
      <p:pic>
        <p:nvPicPr>
          <p:cNvPr id="3" name="图片 2"/>
          <p:cNvPicPr>
            <a:picLocks noChangeAspect="1"/>
          </p:cNvPicPr>
          <p:nvPr/>
        </p:nvPicPr>
        <p:blipFill>
          <a:blip r:embed="rId1"/>
          <a:stretch>
            <a:fillRect/>
          </a:stretch>
        </p:blipFill>
        <p:spPr>
          <a:xfrm>
            <a:off x="467360" y="1917065"/>
            <a:ext cx="7794625" cy="4660265"/>
          </a:xfrm>
          <a:prstGeom prst="rect">
            <a:avLst/>
          </a:prstGeom>
        </p:spPr>
      </p:pic>
      <p:sp>
        <p:nvSpPr>
          <p:cNvPr id="11" name="文本框 10"/>
          <p:cNvSpPr txBox="1"/>
          <p:nvPr/>
        </p:nvSpPr>
        <p:spPr>
          <a:xfrm>
            <a:off x="191770" y="1557020"/>
            <a:ext cx="5080635" cy="368300"/>
          </a:xfrm>
          <a:prstGeom prst="rect">
            <a:avLst/>
          </a:prstGeom>
          <a:noFill/>
        </p:spPr>
        <p:txBody>
          <a:bodyPr wrap="square" rtlCol="0">
            <a:spAutoFit/>
          </a:bodyPr>
          <a:p>
            <a:r>
              <a:rPr lang="en-US" altLang="zh-CN"/>
              <a:t>NIPS2023  </a:t>
            </a:r>
            <a:r>
              <a:rPr lang="zh-CN" altLang="en-US"/>
              <a:t>提供更多的</a:t>
            </a:r>
            <a:r>
              <a:rPr lang="zh-CN" altLang="en-US"/>
              <a:t>标注</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3" name="文本框 2"/>
          <p:cNvSpPr txBox="1"/>
          <p:nvPr/>
        </p:nvSpPr>
        <p:spPr>
          <a:xfrm>
            <a:off x="149860" y="476250"/>
            <a:ext cx="5753735" cy="645160"/>
          </a:xfrm>
          <a:prstGeom prst="rect">
            <a:avLst/>
          </a:prstGeom>
          <a:noFill/>
        </p:spPr>
        <p:txBody>
          <a:bodyPr wrap="square" rtlCol="0" anchor="t">
            <a:spAutoFit/>
          </a:bodyPr>
          <a:p>
            <a:r>
              <a:rPr lang="en-US" altLang="zh-CN"/>
              <a:t>EgoExoBench: A Benchmark for First- and Third-person View Video Understanding in MLLMs</a:t>
            </a:r>
            <a:endParaRPr lang="zh-CN" altLang="en-US"/>
          </a:p>
        </p:txBody>
      </p:sp>
      <p:sp>
        <p:nvSpPr>
          <p:cNvPr id="7" name="文本框 6"/>
          <p:cNvSpPr txBox="1"/>
          <p:nvPr/>
        </p:nvSpPr>
        <p:spPr>
          <a:xfrm>
            <a:off x="149860" y="1628775"/>
            <a:ext cx="3048000" cy="368300"/>
          </a:xfrm>
          <a:prstGeom prst="rect">
            <a:avLst/>
          </a:prstGeom>
          <a:noFill/>
        </p:spPr>
        <p:txBody>
          <a:bodyPr wrap="square" rtlCol="0">
            <a:spAutoFit/>
          </a:bodyPr>
          <a:p>
            <a:r>
              <a:rPr lang="en-US" altLang="zh-CN">
                <a:latin typeface="Times New Roman" panose="02020503050405090304" charset="0"/>
                <a:cs typeface="Times New Roman" panose="02020503050405090304" charset="0"/>
              </a:rPr>
              <a:t>NIPS2025</a:t>
            </a:r>
            <a:endParaRPr lang="en-US" altLang="zh-CN">
              <a:latin typeface="Times New Roman" panose="02020503050405090304" charset="0"/>
              <a:cs typeface="Times New Roman" panose="02020503050405090304" charset="0"/>
            </a:endParaRPr>
          </a:p>
        </p:txBody>
      </p:sp>
      <p:pic>
        <p:nvPicPr>
          <p:cNvPr id="8" name="图片 7"/>
          <p:cNvPicPr>
            <a:picLocks noChangeAspect="1"/>
          </p:cNvPicPr>
          <p:nvPr/>
        </p:nvPicPr>
        <p:blipFill>
          <a:blip r:embed="rId1"/>
          <a:stretch>
            <a:fillRect/>
          </a:stretch>
        </p:blipFill>
        <p:spPr>
          <a:xfrm>
            <a:off x="394970" y="2060575"/>
            <a:ext cx="8102600" cy="2997200"/>
          </a:xfrm>
          <a:prstGeom prst="rect">
            <a:avLst/>
          </a:prstGeom>
        </p:spPr>
      </p:pic>
      <p:sp>
        <p:nvSpPr>
          <p:cNvPr id="9" name="文本框 8"/>
          <p:cNvSpPr txBox="1"/>
          <p:nvPr/>
        </p:nvSpPr>
        <p:spPr>
          <a:xfrm>
            <a:off x="1475105" y="1628458"/>
            <a:ext cx="5080000" cy="337185"/>
          </a:xfrm>
          <a:prstGeom prst="rect">
            <a:avLst/>
          </a:prstGeom>
        </p:spPr>
        <p:txBody>
          <a:bodyPr>
            <a:spAutoFit/>
          </a:bodyPr>
          <a:p>
            <a:pPr marL="0" indent="0" algn="just"/>
            <a:r>
              <a:rPr lang="zh-CN" altLang="en-US" sz="1600" b="0" i="0">
                <a:solidFill>
                  <a:srgbClr val="000000"/>
                </a:solidFill>
                <a:latin typeface="rival-sans"/>
                <a:ea typeface="rival-sans"/>
              </a:rPr>
              <a:t>交叉视图推理</a:t>
            </a:r>
            <a:endParaRPr lang="zh-CN" altLang="en-US" sz="1600" b="0" i="0">
              <a:solidFill>
                <a:srgbClr val="000000"/>
              </a:solidFill>
              <a:latin typeface="rival-sans"/>
              <a:ea typeface="rival-sans"/>
            </a:endParaRPr>
          </a:p>
        </p:txBody>
      </p:sp>
      <p:sp>
        <p:nvSpPr>
          <p:cNvPr id="10" name="文本框 9"/>
          <p:cNvSpPr txBox="1"/>
          <p:nvPr/>
        </p:nvSpPr>
        <p:spPr>
          <a:xfrm>
            <a:off x="452120" y="5325110"/>
            <a:ext cx="3048000" cy="368300"/>
          </a:xfrm>
          <a:prstGeom prst="rect">
            <a:avLst/>
          </a:prstGeom>
          <a:noFill/>
        </p:spPr>
        <p:txBody>
          <a:bodyPr wrap="square" rtlCol="0">
            <a:spAutoFit/>
          </a:bodyPr>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3" name="文本框 2"/>
          <p:cNvSpPr txBox="1"/>
          <p:nvPr/>
        </p:nvSpPr>
        <p:spPr>
          <a:xfrm>
            <a:off x="149860" y="476250"/>
            <a:ext cx="5753735" cy="645160"/>
          </a:xfrm>
          <a:prstGeom prst="rect">
            <a:avLst/>
          </a:prstGeom>
          <a:noFill/>
        </p:spPr>
        <p:txBody>
          <a:bodyPr wrap="square" rtlCol="0" anchor="t">
            <a:spAutoFit/>
          </a:bodyPr>
          <a:p>
            <a:r>
              <a:rPr lang="en-US" altLang="zh-CN"/>
              <a:t>EgoExoBench: A Benchmark for First- and Third-person View Video Understanding in MLLMs</a:t>
            </a:r>
            <a:endParaRPr lang="zh-CN" altLang="en-US"/>
          </a:p>
        </p:txBody>
      </p:sp>
      <p:sp>
        <p:nvSpPr>
          <p:cNvPr id="9" name="文本框 8"/>
          <p:cNvSpPr txBox="1"/>
          <p:nvPr/>
        </p:nvSpPr>
        <p:spPr>
          <a:xfrm>
            <a:off x="-36830" y="1340485"/>
            <a:ext cx="7734300" cy="1476375"/>
          </a:xfrm>
          <a:prstGeom prst="rect">
            <a:avLst/>
          </a:prstGeom>
          <a:noFill/>
        </p:spPr>
        <p:txBody>
          <a:bodyPr wrap="square" rtlCol="0">
            <a:spAutoFit/>
          </a:bodyPr>
          <a:p>
            <a:endParaRPr lang="en-US" altLang="zh-CN"/>
          </a:p>
          <a:p>
            <a:r>
              <a:rPr lang="en-US" altLang="zh-CN"/>
              <a:t>1 Ego-Exo Relation</a:t>
            </a:r>
            <a:endParaRPr lang="en-US" altLang="zh-CN"/>
          </a:p>
          <a:p>
            <a:r>
              <a:rPr lang="zh-CN" altLang="en-US"/>
              <a:t>第一人称</a:t>
            </a:r>
            <a:r>
              <a:rPr lang="en-US" altLang="zh-CN"/>
              <a:t>-</a:t>
            </a:r>
            <a:r>
              <a:rPr lang="zh-CN" altLang="en-US"/>
              <a:t>第三人称关系维度评估模型在</a:t>
            </a:r>
            <a:r>
              <a:rPr lang="zh-CN" altLang="en-US"/>
              <a:t>不同视角之间对内容进行语义对齐的能力，这是任何交叉观点推理的关键基础。</a:t>
            </a:r>
            <a:endParaRPr lang="zh-CN" altLang="en-US"/>
          </a:p>
          <a:p>
            <a:endParaRPr lang="en-US" altLang="zh-CN"/>
          </a:p>
        </p:txBody>
      </p:sp>
      <p:pic>
        <p:nvPicPr>
          <p:cNvPr id="11" name="图片 10"/>
          <p:cNvPicPr>
            <a:picLocks noChangeAspect="1"/>
          </p:cNvPicPr>
          <p:nvPr/>
        </p:nvPicPr>
        <p:blipFill>
          <a:blip r:embed="rId1"/>
          <a:stretch>
            <a:fillRect/>
          </a:stretch>
        </p:blipFill>
        <p:spPr>
          <a:xfrm>
            <a:off x="3636010" y="2708910"/>
            <a:ext cx="5887085" cy="3171190"/>
          </a:xfrm>
          <a:prstGeom prst="rect">
            <a:avLst/>
          </a:prstGeom>
        </p:spPr>
      </p:pic>
      <p:sp>
        <p:nvSpPr>
          <p:cNvPr id="13" name="文本框 12"/>
          <p:cNvSpPr txBox="1"/>
          <p:nvPr/>
        </p:nvSpPr>
        <p:spPr>
          <a:xfrm>
            <a:off x="-36830" y="2528570"/>
            <a:ext cx="3890645" cy="3969385"/>
          </a:xfrm>
          <a:prstGeom prst="rect">
            <a:avLst/>
          </a:prstGeom>
          <a:noFill/>
        </p:spPr>
        <p:txBody>
          <a:bodyPr wrap="square" rtlCol="0">
            <a:spAutoFit/>
          </a:bodyPr>
          <a:p>
            <a:r>
              <a:rPr lang="en-US" altLang="zh-CN"/>
              <a:t>Task Relation (TR)</a:t>
            </a:r>
            <a:endParaRPr lang="en-US" altLang="zh-CN"/>
          </a:p>
          <a:p>
            <a:r>
              <a:rPr lang="zh-CN" altLang="en-US">
                <a:sym typeface="+mn-ea"/>
              </a:rPr>
              <a:t>干扰项对来自同一场景中的不同环境</a:t>
            </a:r>
            <a:endParaRPr lang="zh-CN" altLang="en-US">
              <a:sym typeface="+mn-ea"/>
            </a:endParaRPr>
          </a:p>
          <a:p>
            <a:endParaRPr lang="en-US" altLang="zh-CN"/>
          </a:p>
          <a:p>
            <a:r>
              <a:rPr lang="en-US" altLang="zh-CN"/>
              <a:t>Action Relation (AR)</a:t>
            </a:r>
            <a:endParaRPr lang="en-US" altLang="zh-CN"/>
          </a:p>
          <a:p>
            <a:r>
              <a:rPr lang="zh-CN" altLang="en-US">
                <a:sym typeface="+mn-ea"/>
              </a:rPr>
              <a:t>从另一个角度识别捕获相同动作的相应剪辑</a:t>
            </a:r>
            <a:endParaRPr lang="en-US" altLang="zh-CN"/>
          </a:p>
          <a:p>
            <a:endParaRPr lang="en-US" altLang="zh-CN"/>
          </a:p>
          <a:p>
            <a:r>
              <a:rPr lang="en-US" altLang="zh-CN"/>
              <a:t>Object Relation (OR)</a:t>
            </a:r>
            <a:endParaRPr lang="en-US" altLang="zh-CN"/>
          </a:p>
          <a:p>
            <a:r>
              <a:rPr lang="zh-CN" altLang="en-US">
                <a:sym typeface="+mn-ea"/>
              </a:rPr>
              <a:t>模型必须先推断每个视频中与之交互的对象</a:t>
            </a:r>
            <a:endParaRPr lang="en-US" altLang="zh-CN"/>
          </a:p>
          <a:p>
            <a:endParaRPr lang="en-US" altLang="zh-CN"/>
          </a:p>
          <a:p>
            <a:r>
              <a:rPr lang="en-US" altLang="zh-CN"/>
              <a:t>Person Relation (PR)</a:t>
            </a:r>
            <a:endParaRPr lang="en-US" altLang="zh-CN"/>
          </a:p>
          <a:p>
            <a:r>
              <a:rPr lang="zh-CN" altLang="en-US">
                <a:sym typeface="+mn-ea"/>
              </a:rPr>
              <a:t>户外场景中提供同步的以自我为中心和俯视记录</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3" name="文本框 2"/>
          <p:cNvSpPr txBox="1"/>
          <p:nvPr/>
        </p:nvSpPr>
        <p:spPr>
          <a:xfrm>
            <a:off x="149860" y="476250"/>
            <a:ext cx="5753735" cy="645160"/>
          </a:xfrm>
          <a:prstGeom prst="rect">
            <a:avLst/>
          </a:prstGeom>
          <a:noFill/>
        </p:spPr>
        <p:txBody>
          <a:bodyPr wrap="square" rtlCol="0" anchor="t">
            <a:spAutoFit/>
          </a:bodyPr>
          <a:p>
            <a:r>
              <a:rPr lang="en-US" altLang="zh-CN"/>
              <a:t>EgoExoBench: A Benchmark for First- and Third-person View Video Understanding in MLLMs</a:t>
            </a:r>
            <a:endParaRPr lang="zh-CN" altLang="en-US"/>
          </a:p>
        </p:txBody>
      </p:sp>
      <p:sp>
        <p:nvSpPr>
          <p:cNvPr id="9" name="文本框 8"/>
          <p:cNvSpPr txBox="1"/>
          <p:nvPr/>
        </p:nvSpPr>
        <p:spPr>
          <a:xfrm>
            <a:off x="0" y="1557020"/>
            <a:ext cx="7734300" cy="922020"/>
          </a:xfrm>
          <a:prstGeom prst="rect">
            <a:avLst/>
          </a:prstGeom>
          <a:noFill/>
        </p:spPr>
        <p:txBody>
          <a:bodyPr wrap="square" rtlCol="0">
            <a:spAutoFit/>
          </a:bodyPr>
          <a:p>
            <a:r>
              <a:rPr lang="en-US" altLang="zh-CN"/>
              <a:t>2 Ego-Exo View Transition</a:t>
            </a:r>
            <a:endParaRPr lang="en-US" altLang="zh-CN"/>
          </a:p>
          <a:p>
            <a:r>
              <a:rPr lang="zh-CN" altLang="en-US"/>
              <a:t>评估模型在第一人称和第三人称视角之间转换空间信息的能力</a:t>
            </a:r>
            <a:endParaRPr lang="zh-CN" altLang="en-US"/>
          </a:p>
          <a:p>
            <a:endParaRPr lang="en-US" altLang="zh-CN"/>
          </a:p>
        </p:txBody>
      </p:sp>
      <p:sp>
        <p:nvSpPr>
          <p:cNvPr id="2" name="文本框 1"/>
          <p:cNvSpPr txBox="1"/>
          <p:nvPr/>
        </p:nvSpPr>
        <p:spPr>
          <a:xfrm>
            <a:off x="179070" y="5013325"/>
            <a:ext cx="8630920" cy="1814830"/>
          </a:xfrm>
          <a:prstGeom prst="rect">
            <a:avLst/>
          </a:prstGeom>
        </p:spPr>
        <p:txBody>
          <a:bodyPr wrap="square">
            <a:spAutoFit/>
          </a:bodyPr>
          <a:p>
            <a:pPr marL="0" indent="0" algn="just"/>
            <a:r>
              <a:rPr lang="en-US" altLang="zh-CN" sz="1600" i="0">
                <a:solidFill>
                  <a:srgbClr val="000000"/>
                </a:solidFill>
                <a:latin typeface="Times New Roman" panose="02020503050405090304" charset="0"/>
                <a:ea typeface="rival-sans"/>
                <a:cs typeface="Times New Roman" panose="02020503050405090304" charset="0"/>
              </a:rPr>
              <a:t>Egocentric Wearer Identification</a:t>
            </a:r>
            <a:endParaRPr lang="en-US" altLang="zh-CN" sz="1600" b="1" i="0">
              <a:solidFill>
                <a:srgbClr val="000000"/>
              </a:solidFill>
              <a:latin typeface="rival-sans"/>
              <a:ea typeface="rival-sans"/>
            </a:endParaRPr>
          </a:p>
          <a:p>
            <a:pPr marL="0" indent="0" algn="just"/>
            <a:r>
              <a:rPr lang="zh-CN" altLang="en-US" sz="1600">
                <a:sym typeface="+mn-ea"/>
              </a:rPr>
              <a:t>模型必须通过分析周围人和物体的相对位置来推断空间关系</a:t>
            </a:r>
            <a:endParaRPr lang="zh-CN" altLang="en-US" sz="1600">
              <a:sym typeface="+mn-ea"/>
            </a:endParaRPr>
          </a:p>
          <a:p>
            <a:pPr marL="0" indent="0" algn="just"/>
            <a:r>
              <a:rPr lang="en-US" altLang="zh-CN" sz="1600" i="0">
                <a:solidFill>
                  <a:srgbClr val="000000"/>
                </a:solidFill>
                <a:latin typeface="Times New Roman" panose="02020503050405090304" charset="0"/>
                <a:ea typeface="rival-sans"/>
                <a:cs typeface="Times New Roman" panose="02020503050405090304" charset="0"/>
              </a:rPr>
              <a:t>Direction Prediction</a:t>
            </a:r>
            <a:endParaRPr lang="en-US" altLang="zh-CN" sz="1600" b="1" i="0">
              <a:solidFill>
                <a:srgbClr val="000000"/>
              </a:solidFill>
              <a:latin typeface="rival-sans"/>
              <a:ea typeface="rival-sans"/>
            </a:endParaRPr>
          </a:p>
          <a:p>
            <a:pPr marL="0" indent="0" algn="just"/>
            <a:r>
              <a:rPr lang="zh-CN" altLang="en-US" sz="1600">
                <a:sym typeface="+mn-ea"/>
              </a:rPr>
              <a:t>每个问题提供多个外心剪辑，其中只有一个与指定的方向条件匹配</a:t>
            </a:r>
            <a:endParaRPr lang="en-US" altLang="zh-CN" sz="1600" b="1" i="0">
              <a:solidFill>
                <a:srgbClr val="000000"/>
              </a:solidFill>
              <a:latin typeface="rival-sans"/>
              <a:ea typeface="rival-sans"/>
            </a:endParaRPr>
          </a:p>
          <a:p>
            <a:pPr marL="0" indent="0" algn="just"/>
            <a:r>
              <a:rPr lang="en-US" altLang="zh-CN" sz="1600" i="0">
                <a:solidFill>
                  <a:srgbClr val="000000"/>
                </a:solidFill>
                <a:latin typeface="Times New Roman" panose="02020503050405090304" charset="0"/>
                <a:ea typeface="rival-sans"/>
                <a:cs typeface="Times New Roman" panose="02020503050405090304" charset="0"/>
              </a:rPr>
              <a:t>Body Part Action Understanding </a:t>
            </a:r>
            <a:endParaRPr lang="en-US" altLang="zh-CN" sz="1600" b="1" i="0">
              <a:solidFill>
                <a:srgbClr val="000000"/>
              </a:solidFill>
              <a:latin typeface="rival-sans"/>
              <a:ea typeface="rival-sans"/>
            </a:endParaRPr>
          </a:p>
          <a:p>
            <a:pPr marL="0" indent="0" algn="just"/>
            <a:r>
              <a:rPr lang="zh-CN" altLang="en-US" sz="1600">
                <a:sym typeface="+mn-ea"/>
              </a:rPr>
              <a:t>要求配对显示相同身体部位活动的以自我为中心和外向中心的剪辑</a:t>
            </a:r>
            <a:endParaRPr lang="en-US" altLang="zh-CN" sz="1600" b="1" i="0">
              <a:solidFill>
                <a:srgbClr val="000000"/>
              </a:solidFill>
              <a:latin typeface="rival-sans"/>
              <a:ea typeface="rival-sans"/>
            </a:endParaRPr>
          </a:p>
          <a:p>
            <a:pPr marL="0" indent="0" algn="just"/>
            <a:endParaRPr lang="en-US" altLang="zh-CN" sz="1600" b="1" i="0">
              <a:solidFill>
                <a:srgbClr val="000000"/>
              </a:solidFill>
              <a:latin typeface="rival-sans"/>
              <a:ea typeface="rival-sans"/>
            </a:endParaRPr>
          </a:p>
        </p:txBody>
      </p:sp>
      <p:pic>
        <p:nvPicPr>
          <p:cNvPr id="7" name="图片 6"/>
          <p:cNvPicPr>
            <a:picLocks noChangeAspect="1"/>
          </p:cNvPicPr>
          <p:nvPr/>
        </p:nvPicPr>
        <p:blipFill>
          <a:blip r:embed="rId1"/>
          <a:stretch>
            <a:fillRect/>
          </a:stretch>
        </p:blipFill>
        <p:spPr>
          <a:xfrm>
            <a:off x="179070" y="2204720"/>
            <a:ext cx="8594725" cy="27882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3" name="文本框 2"/>
          <p:cNvSpPr txBox="1"/>
          <p:nvPr/>
        </p:nvSpPr>
        <p:spPr>
          <a:xfrm>
            <a:off x="149860" y="476250"/>
            <a:ext cx="5753735" cy="645160"/>
          </a:xfrm>
          <a:prstGeom prst="rect">
            <a:avLst/>
          </a:prstGeom>
          <a:noFill/>
        </p:spPr>
        <p:txBody>
          <a:bodyPr wrap="square" rtlCol="0" anchor="t">
            <a:spAutoFit/>
          </a:bodyPr>
          <a:p>
            <a:r>
              <a:rPr lang="en-US" altLang="zh-CN"/>
              <a:t>EgoExoBench: A Benchmark for First- and Third-person View Video Understanding in MLLMs</a:t>
            </a:r>
            <a:endParaRPr lang="zh-CN" altLang="en-US"/>
          </a:p>
        </p:txBody>
      </p:sp>
      <p:sp>
        <p:nvSpPr>
          <p:cNvPr id="9" name="文本框 8"/>
          <p:cNvSpPr txBox="1"/>
          <p:nvPr/>
        </p:nvSpPr>
        <p:spPr>
          <a:xfrm>
            <a:off x="0" y="1557020"/>
            <a:ext cx="9253855" cy="645160"/>
          </a:xfrm>
          <a:prstGeom prst="rect">
            <a:avLst/>
          </a:prstGeom>
          <a:noFill/>
        </p:spPr>
        <p:txBody>
          <a:bodyPr wrap="square" rtlCol="0">
            <a:spAutoFit/>
          </a:bodyPr>
          <a:p>
            <a:r>
              <a:rPr lang="en-US" altLang="zh-CN"/>
              <a:t>3 </a:t>
            </a:r>
            <a:r>
              <a:rPr lang="en-US" altLang="zh-CN">
                <a:sym typeface="+mn-ea"/>
              </a:rPr>
              <a:t>Ego-Exo Temporal Reasoning</a:t>
            </a:r>
            <a:endParaRPr lang="en-US" altLang="zh-CN"/>
          </a:p>
          <a:p>
            <a:r>
              <a:rPr lang="zh-CN" altLang="en-US"/>
              <a:t>自我</a:t>
            </a:r>
            <a:r>
              <a:rPr lang="en-US" altLang="zh-CN"/>
              <a:t>-</a:t>
            </a:r>
            <a:r>
              <a:rPr lang="zh-CN" altLang="en-US"/>
              <a:t>外在时间推理评估模型在以自我为中心和外中心视频流中对齐和推断事件流的能力</a:t>
            </a:r>
            <a:endParaRPr lang="zh-CN" altLang="en-US"/>
          </a:p>
        </p:txBody>
      </p:sp>
      <p:pic>
        <p:nvPicPr>
          <p:cNvPr id="8" name="图片 7"/>
          <p:cNvPicPr>
            <a:picLocks noChangeAspect="1"/>
          </p:cNvPicPr>
          <p:nvPr/>
        </p:nvPicPr>
        <p:blipFill>
          <a:blip r:embed="rId1"/>
          <a:stretch>
            <a:fillRect/>
          </a:stretch>
        </p:blipFill>
        <p:spPr>
          <a:xfrm>
            <a:off x="899795" y="2239645"/>
            <a:ext cx="6383020" cy="44818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3" name="文本框 2"/>
          <p:cNvSpPr txBox="1"/>
          <p:nvPr/>
        </p:nvSpPr>
        <p:spPr>
          <a:xfrm>
            <a:off x="149860" y="476250"/>
            <a:ext cx="5753735" cy="645160"/>
          </a:xfrm>
          <a:prstGeom prst="rect">
            <a:avLst/>
          </a:prstGeom>
          <a:noFill/>
        </p:spPr>
        <p:txBody>
          <a:bodyPr wrap="square" rtlCol="0" anchor="t">
            <a:spAutoFit/>
          </a:bodyPr>
          <a:p>
            <a:r>
              <a:rPr lang="en-US" altLang="zh-CN"/>
              <a:t>EgoExoBench: A Benchmark for First- and Third-person View Video Understanding in MLLMs</a:t>
            </a:r>
            <a:endParaRPr lang="zh-CN" altLang="en-US"/>
          </a:p>
        </p:txBody>
      </p:sp>
      <p:sp>
        <p:nvSpPr>
          <p:cNvPr id="2" name="文本框 1"/>
          <p:cNvSpPr txBox="1"/>
          <p:nvPr/>
        </p:nvSpPr>
        <p:spPr>
          <a:xfrm>
            <a:off x="107315" y="1534160"/>
            <a:ext cx="3048000" cy="368300"/>
          </a:xfrm>
          <a:prstGeom prst="rect">
            <a:avLst/>
          </a:prstGeom>
          <a:noFill/>
        </p:spPr>
        <p:txBody>
          <a:bodyPr wrap="square" rtlCol="0">
            <a:spAutoFit/>
          </a:bodyPr>
          <a:p>
            <a:r>
              <a:rPr lang="zh-CN" altLang="en-US"/>
              <a:t>实验</a:t>
            </a:r>
            <a:r>
              <a:rPr lang="zh-CN" altLang="en-US"/>
              <a:t>结果</a:t>
            </a:r>
            <a:endParaRPr lang="zh-CN" altLang="en-US"/>
          </a:p>
        </p:txBody>
      </p:sp>
      <p:pic>
        <p:nvPicPr>
          <p:cNvPr id="7" name="图片 6"/>
          <p:cNvPicPr>
            <a:picLocks noChangeAspect="1"/>
          </p:cNvPicPr>
          <p:nvPr/>
        </p:nvPicPr>
        <p:blipFill>
          <a:blip r:embed="rId1"/>
          <a:stretch>
            <a:fillRect/>
          </a:stretch>
        </p:blipFill>
        <p:spPr>
          <a:xfrm>
            <a:off x="1331595" y="2132965"/>
            <a:ext cx="5778500" cy="4191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107315" y="1590040"/>
            <a:ext cx="5309235" cy="356870"/>
          </a:xfrm>
          <a:prstGeom prst="rect">
            <a:avLst/>
          </a:prstGeom>
          <a:noFill/>
        </p:spPr>
        <p:txBody>
          <a:bodyPr wrap="square" rtlCol="0" anchor="t">
            <a:noAutofit/>
          </a:bodyPr>
          <a:p>
            <a:r>
              <a:rPr lang="en-US" altLang="zh-CN"/>
              <a:t>Can Reasoning Improve MLLM’s Performance?</a:t>
            </a:r>
            <a:endParaRPr lang="zh-CN" altLang="en-US"/>
          </a:p>
        </p:txBody>
      </p:sp>
      <p:sp>
        <p:nvSpPr>
          <p:cNvPr id="3" name="文本框 2"/>
          <p:cNvSpPr txBox="1"/>
          <p:nvPr/>
        </p:nvSpPr>
        <p:spPr>
          <a:xfrm>
            <a:off x="149860" y="476250"/>
            <a:ext cx="5753735" cy="645160"/>
          </a:xfrm>
          <a:prstGeom prst="rect">
            <a:avLst/>
          </a:prstGeom>
          <a:noFill/>
        </p:spPr>
        <p:txBody>
          <a:bodyPr wrap="square" rtlCol="0" anchor="t">
            <a:spAutoFit/>
          </a:bodyPr>
          <a:p>
            <a:r>
              <a:rPr lang="en-US" altLang="zh-CN"/>
              <a:t>EgoExoBench: A Benchmark for First- and Third-person View Video Understanding in MLLMs</a:t>
            </a:r>
            <a:endParaRPr lang="zh-CN" altLang="en-US"/>
          </a:p>
        </p:txBody>
      </p:sp>
      <p:pic>
        <p:nvPicPr>
          <p:cNvPr id="7" name="图片 6"/>
          <p:cNvPicPr>
            <a:picLocks noChangeAspect="1"/>
          </p:cNvPicPr>
          <p:nvPr/>
        </p:nvPicPr>
        <p:blipFill>
          <a:blip r:embed="rId1"/>
          <a:stretch>
            <a:fillRect/>
          </a:stretch>
        </p:blipFill>
        <p:spPr>
          <a:xfrm>
            <a:off x="0" y="1916430"/>
            <a:ext cx="9144000" cy="2449830"/>
          </a:xfrm>
          <a:prstGeom prst="rect">
            <a:avLst/>
          </a:prstGeom>
        </p:spPr>
      </p:pic>
      <p:sp>
        <p:nvSpPr>
          <p:cNvPr id="8" name="文本框 7"/>
          <p:cNvSpPr txBox="1"/>
          <p:nvPr/>
        </p:nvSpPr>
        <p:spPr>
          <a:xfrm>
            <a:off x="251460" y="4293235"/>
            <a:ext cx="8335645" cy="1568450"/>
          </a:xfrm>
          <a:prstGeom prst="rect">
            <a:avLst/>
          </a:prstGeom>
        </p:spPr>
        <p:txBody>
          <a:bodyPr wrap="square">
            <a:spAutoFit/>
          </a:bodyPr>
          <a:p>
            <a:pPr marL="0" algn="l">
              <a:buClrTx/>
              <a:buSzTx/>
            </a:pPr>
            <a:r>
              <a:rPr lang="en-US" altLang="zh-CN" sz="1600" b="1" i="0">
                <a:solidFill>
                  <a:srgbClr val="000000"/>
                </a:solidFill>
                <a:latin typeface="Times New Roman" panose="02020503050405090304" charset="0"/>
                <a:ea typeface="rival-sans"/>
                <a:cs typeface="Times New Roman" panose="02020503050405090304" charset="0"/>
              </a:rPr>
              <a:t>论文解释:</a:t>
            </a:r>
            <a:r>
              <a:rPr lang="en-US" altLang="zh-CN" sz="1600" b="0" i="0">
                <a:solidFill>
                  <a:srgbClr val="000000"/>
                </a:solidFill>
                <a:latin typeface="Times New Roman" panose="02020503050405090304" charset="0"/>
                <a:ea typeface="rival-sans"/>
                <a:cs typeface="Times New Roman" panose="02020503050405090304" charset="0"/>
              </a:rPr>
              <a:t> CoT 提示会降低大多数任务的性能。特别是，对于人与人关系和动作关系子任务，Qwen2.5-VL-72B[</a:t>
            </a:r>
            <a:r>
              <a:rPr lang="en-US" altLang="zh-CN" sz="1600" b="0" i="0">
                <a:solidFill>
                  <a:srgbClr val="000000"/>
                </a:solidFill>
                <a:latin typeface="Times New Roman" panose="02020503050405090304" charset="0"/>
                <a:ea typeface="rival-sans"/>
                <a:cs typeface="Times New Roman" panose="02020503050405090304" charset="0"/>
                <a:hlinkClick r:id="rId2"/>
              </a:rPr>
              <a:t>57</a:t>
            </a:r>
            <a:r>
              <a:rPr lang="en-US" altLang="zh-CN" sz="1600" b="0" i="0">
                <a:solidFill>
                  <a:srgbClr val="000000"/>
                </a:solidFill>
                <a:latin typeface="Times New Roman" panose="02020503050405090304" charset="0"/>
                <a:ea typeface="rival-sans"/>
                <a:cs typeface="Times New Roman" panose="02020503050405090304" charset="0"/>
              </a:rPr>
              <a:t>]在没有 CoT 的情况下已经表现良好，但准确率却大幅下降（20% 和 19%）。性能下降的原因之一是 EgoExoBench 中的任务要求模型在解释一个视频流、将这种理解翻译成语言，然后将其应用于第二个流之间交替进行。纯粹专注于文本分解的标准 CoT 提示会扰乱这种交错的视觉语言工作流程，导致性能下降。</a:t>
            </a:r>
            <a:endParaRPr lang="en-US" altLang="zh-CN" sz="1600" b="0" i="0">
              <a:solidFill>
                <a:srgbClr val="000000"/>
              </a:solidFill>
              <a:latin typeface="Times New Roman" panose="02020503050405090304" charset="0"/>
              <a:ea typeface="rival-sans"/>
              <a:cs typeface="Times New Roman" panose="02020503050405090304" charset="0"/>
            </a:endParaRPr>
          </a:p>
          <a:p>
            <a:pPr marL="0" algn="l">
              <a:buClrTx/>
              <a:buSzTx/>
            </a:pPr>
            <a:endParaRPr lang="en-US" altLang="zh-CN" sz="1600" b="0" i="0">
              <a:solidFill>
                <a:srgbClr val="000000"/>
              </a:solidFill>
              <a:latin typeface="Times New Roman" panose="02020503050405090304" charset="0"/>
              <a:ea typeface="rival-sans"/>
              <a:cs typeface="Times New Roman" panose="02020503050405090304" charset="0"/>
            </a:endParaRPr>
          </a:p>
        </p:txBody>
      </p:sp>
      <p:sp>
        <p:nvSpPr>
          <p:cNvPr id="9" name="文本框 8"/>
          <p:cNvSpPr txBox="1"/>
          <p:nvPr/>
        </p:nvSpPr>
        <p:spPr>
          <a:xfrm>
            <a:off x="395605" y="5733415"/>
            <a:ext cx="8335645" cy="583565"/>
          </a:xfrm>
          <a:prstGeom prst="rect">
            <a:avLst/>
          </a:prstGeom>
        </p:spPr>
        <p:txBody>
          <a:bodyPr wrap="square">
            <a:spAutoFit/>
          </a:bodyPr>
          <a:p>
            <a:pPr marL="0" algn="l">
              <a:buClrTx/>
              <a:buSzTx/>
            </a:pPr>
            <a:r>
              <a:rPr lang="zh-CN" altLang="en-US" sz="1600" b="0" i="0">
                <a:solidFill>
                  <a:srgbClr val="000000"/>
                </a:solidFill>
                <a:latin typeface="rival-sans"/>
                <a:ea typeface="rival-sans"/>
              </a:rPr>
              <a:t>但是当前多模态的推理环节存在</a:t>
            </a:r>
            <a:r>
              <a:rPr lang="en-US" altLang="zh-CN" sz="1600" b="0" i="0">
                <a:solidFill>
                  <a:srgbClr val="000000"/>
                </a:solidFill>
                <a:latin typeface="Times New Roman" panose="02020503050405090304" charset="0"/>
                <a:ea typeface="rival-sans"/>
                <a:cs typeface="Times New Roman" panose="02020503050405090304" charset="0"/>
              </a:rPr>
              <a:t>hack</a:t>
            </a:r>
            <a:r>
              <a:rPr lang="zh-CN" altLang="en-US" sz="1600" b="0" i="0">
                <a:solidFill>
                  <a:srgbClr val="000000"/>
                </a:solidFill>
                <a:latin typeface="Times New Roman" panose="02020503050405090304" charset="0"/>
                <a:cs typeface="Times New Roman" panose="02020503050405090304" charset="0"/>
              </a:rPr>
              <a:t>（</a:t>
            </a:r>
            <a:r>
              <a:rPr lang="zh-CN" altLang="en-US" sz="1600" b="0" i="0">
                <a:solidFill>
                  <a:srgbClr val="000000"/>
                </a:solidFill>
                <a:latin typeface="rival-sans"/>
                <a:ea typeface="rival-sans"/>
              </a:rPr>
              <a:t>在推理之前预置答案</a:t>
            </a:r>
            <a:r>
              <a:rPr lang="en-US" altLang="zh-CN" sz="1600" b="0" i="0">
                <a:solidFill>
                  <a:srgbClr val="000000"/>
                </a:solidFill>
                <a:latin typeface="rival-sans"/>
                <a:ea typeface="rival-sans"/>
              </a:rPr>
              <a:t>），</a:t>
            </a:r>
            <a:r>
              <a:rPr lang="zh-CN" altLang="en-US" sz="1600" b="0" i="0">
                <a:solidFill>
                  <a:srgbClr val="000000"/>
                </a:solidFill>
                <a:latin typeface="rival-sans"/>
                <a:ea typeface="rival-sans"/>
              </a:rPr>
              <a:t>在安全、推理等下游任务中均有体现</a:t>
            </a:r>
            <a:r>
              <a:rPr lang="en-US" altLang="zh-CN" sz="1600" b="0" i="0">
                <a:solidFill>
                  <a:srgbClr val="000000"/>
                </a:solidFill>
                <a:latin typeface="rival-sans"/>
                <a:ea typeface="rival-sans"/>
              </a:rPr>
              <a:t>，</a:t>
            </a:r>
            <a:r>
              <a:rPr lang="zh-CN" altLang="en-US" sz="1600" b="0" i="0">
                <a:solidFill>
                  <a:srgbClr val="000000"/>
                </a:solidFill>
                <a:latin typeface="rival-sans"/>
                <a:ea typeface="rival-sans"/>
              </a:rPr>
              <a:t>多模态推理对于</a:t>
            </a:r>
            <a:r>
              <a:rPr lang="en-US" altLang="zh-CN" sz="1600" b="0" i="0">
                <a:solidFill>
                  <a:srgbClr val="000000"/>
                </a:solidFill>
                <a:latin typeface="Times New Roman" panose="02020503050405090304" charset="0"/>
                <a:ea typeface="rival-sans"/>
                <a:cs typeface="Times New Roman" panose="02020503050405090304" charset="0"/>
              </a:rPr>
              <a:t>Ego</a:t>
            </a:r>
            <a:r>
              <a:rPr lang="zh-CN" altLang="en-US" sz="1600" b="0" i="0">
                <a:solidFill>
                  <a:srgbClr val="000000"/>
                </a:solidFill>
                <a:latin typeface="rival-sans"/>
                <a:ea typeface="rival-sans"/>
              </a:rPr>
              <a:t>任务影响需要进一步研究</a:t>
            </a:r>
            <a:endParaRPr lang="en-US" altLang="zh-CN" sz="1600" b="0" i="0">
              <a:solidFill>
                <a:srgbClr val="000000"/>
              </a:solidFill>
              <a:latin typeface="Times New Roman" panose="02020503050405090304" charset="0"/>
              <a:ea typeface="rival-sans"/>
              <a:cs typeface="Times New Roman" panose="0202050305040509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pic>
        <p:nvPicPr>
          <p:cNvPr id="3" name="图片 2"/>
          <p:cNvPicPr>
            <a:picLocks noChangeAspect="1"/>
          </p:cNvPicPr>
          <p:nvPr/>
        </p:nvPicPr>
        <p:blipFill>
          <a:blip r:embed="rId1"/>
          <a:stretch>
            <a:fillRect/>
          </a:stretch>
        </p:blipFill>
        <p:spPr>
          <a:xfrm>
            <a:off x="755650" y="2132965"/>
            <a:ext cx="7200900" cy="3103245"/>
          </a:xfrm>
          <a:prstGeom prst="rect">
            <a:avLst/>
          </a:prstGeom>
        </p:spPr>
      </p:pic>
      <p:sp>
        <p:nvSpPr>
          <p:cNvPr id="7" name="文本框 6"/>
          <p:cNvSpPr txBox="1"/>
          <p:nvPr/>
        </p:nvSpPr>
        <p:spPr>
          <a:xfrm>
            <a:off x="251460" y="1602740"/>
            <a:ext cx="8925560" cy="337185"/>
          </a:xfrm>
          <a:prstGeom prst="rect">
            <a:avLst/>
          </a:prstGeom>
        </p:spPr>
        <p:txBody>
          <a:bodyPr wrap="square">
            <a:spAutoFit/>
          </a:bodyPr>
          <a:p>
            <a:pPr marL="0" indent="0" algn="just"/>
            <a:r>
              <a:rPr lang="en-US" altLang="zh-CN" sz="1600" b="0" i="0">
                <a:solidFill>
                  <a:srgbClr val="000000"/>
                </a:solidFill>
                <a:latin typeface="Times New Roman" panose="02020503050405090304" charset="0"/>
                <a:ea typeface="rival-sans"/>
                <a:cs typeface="Times New Roman" panose="02020503050405090304" charset="0"/>
              </a:rPr>
              <a:t>NIPS25 </a:t>
            </a:r>
            <a:r>
              <a:rPr lang="en-US" altLang="zh-CN" sz="1600" b="0" i="0">
                <a:solidFill>
                  <a:srgbClr val="000000"/>
                </a:solidFill>
                <a:latin typeface="Times New Roman" panose="02020503050405090304" charset="0"/>
                <a:ea typeface="rival-sans"/>
                <a:cs typeface="Times New Roman" panose="02020503050405090304" charset="0"/>
              </a:rPr>
              <a:t>DB  </a:t>
            </a:r>
            <a:r>
              <a:rPr lang="zh-CN" altLang="en-US" sz="1600" b="0" i="0">
                <a:solidFill>
                  <a:srgbClr val="000000"/>
                </a:solidFill>
                <a:latin typeface="Times New Roman" panose="02020503050405090304" charset="0"/>
                <a:ea typeface="rival-sans"/>
                <a:cs typeface="Times New Roman" panose="02020503050405090304" charset="0"/>
              </a:rPr>
              <a:t>凝视引导意图提示方法通过整合空间、时间和意图相关线索显着提高了性能</a:t>
            </a:r>
            <a:endParaRPr lang="zh-CN" altLang="en-US" sz="1600" b="0" i="0">
              <a:solidFill>
                <a:srgbClr val="000000"/>
              </a:solidFill>
              <a:latin typeface="Times New Roman" panose="02020503050405090304" charset="0"/>
              <a:ea typeface="rival-sans"/>
              <a:cs typeface="Times New Roman" panose="0202050305040509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pic>
        <p:nvPicPr>
          <p:cNvPr id="8" name="图片 7"/>
          <p:cNvPicPr>
            <a:picLocks noChangeAspect="1"/>
          </p:cNvPicPr>
          <p:nvPr>
            <p:custDataLst>
              <p:tags r:id="rId1"/>
            </p:custDataLst>
          </p:nvPr>
        </p:nvPicPr>
        <p:blipFill>
          <a:blip r:embed="rId2"/>
          <a:srcRect t="6215"/>
          <a:stretch>
            <a:fillRect/>
          </a:stretch>
        </p:blipFill>
        <p:spPr>
          <a:xfrm>
            <a:off x="467360" y="2708910"/>
            <a:ext cx="7177405" cy="3054985"/>
          </a:xfrm>
          <a:prstGeom prst="rect">
            <a:avLst/>
          </a:prstGeom>
        </p:spPr>
      </p:pic>
      <p:sp>
        <p:nvSpPr>
          <p:cNvPr id="9" name="文本框 8"/>
          <p:cNvSpPr txBox="1"/>
          <p:nvPr/>
        </p:nvSpPr>
        <p:spPr>
          <a:xfrm>
            <a:off x="251460" y="2263140"/>
            <a:ext cx="3048000" cy="368300"/>
          </a:xfrm>
          <a:prstGeom prst="rect">
            <a:avLst/>
          </a:prstGeom>
          <a:noFill/>
        </p:spPr>
        <p:txBody>
          <a:bodyPr wrap="square" rtlCol="0">
            <a:spAutoFit/>
          </a:bodyPr>
          <a:p>
            <a:r>
              <a:rPr lang="en-US" altLang="zh-CN"/>
              <a:t>What is </a:t>
            </a:r>
            <a:r>
              <a:rPr lang="en-US" altLang="zh-CN">
                <a:sym typeface="+mn-ea"/>
              </a:rPr>
              <a:t>Gaze-Guided</a:t>
            </a:r>
            <a:r>
              <a:rPr lang="en-US" altLang="zh-CN"/>
              <a:t> </a:t>
            </a:r>
            <a:endParaRPr lang="en-US" altLang="zh-CN"/>
          </a:p>
        </p:txBody>
      </p:sp>
      <p:sp>
        <p:nvSpPr>
          <p:cNvPr id="10" name="文本框 9"/>
          <p:cNvSpPr txBox="1"/>
          <p:nvPr/>
        </p:nvSpPr>
        <p:spPr>
          <a:xfrm>
            <a:off x="611505" y="5841365"/>
            <a:ext cx="4697095" cy="368300"/>
          </a:xfrm>
          <a:prstGeom prst="rect">
            <a:avLst/>
          </a:prstGeom>
          <a:noFill/>
        </p:spPr>
        <p:txBody>
          <a:bodyPr wrap="square" rtlCol="0">
            <a:spAutoFit/>
          </a:bodyPr>
          <a:p>
            <a:r>
              <a:rPr lang="zh-CN" altLang="en-US"/>
              <a:t>如上图，凝视是图中红点标注</a:t>
            </a:r>
            <a:r>
              <a:rPr lang="zh-CN" altLang="en-US"/>
              <a:t>内容</a:t>
            </a:r>
            <a:endParaRPr lang="zh-CN" altLang="en-US"/>
          </a:p>
        </p:txBody>
      </p:sp>
      <p:sp>
        <p:nvSpPr>
          <p:cNvPr id="11" name="文本框 10"/>
          <p:cNvSpPr txBox="1"/>
          <p:nvPr/>
        </p:nvSpPr>
        <p:spPr>
          <a:xfrm>
            <a:off x="300990" y="1688465"/>
            <a:ext cx="6438265" cy="368300"/>
          </a:xfrm>
          <a:prstGeom prst="rect">
            <a:avLst/>
          </a:prstGeom>
          <a:noFill/>
        </p:spPr>
        <p:txBody>
          <a:bodyPr wrap="square" rtlCol="0">
            <a:spAutoFit/>
          </a:bodyPr>
          <a:p>
            <a:r>
              <a:rPr lang="zh-CN" altLang="en-US"/>
              <a:t>动机：大多数用户问题可能本质上取决于用户正在查看的内容</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pic>
        <p:nvPicPr>
          <p:cNvPr id="3" name="图片 2"/>
          <p:cNvPicPr>
            <a:picLocks noChangeAspect="1"/>
          </p:cNvPicPr>
          <p:nvPr>
            <p:custDataLst>
              <p:tags r:id="rId1"/>
            </p:custDataLst>
          </p:nvPr>
        </p:nvPicPr>
        <p:blipFill>
          <a:blip r:embed="rId2"/>
          <a:srcRect t="6865"/>
          <a:stretch>
            <a:fillRect/>
          </a:stretch>
        </p:blipFill>
        <p:spPr>
          <a:xfrm>
            <a:off x="323215" y="2493010"/>
            <a:ext cx="7973695" cy="2937510"/>
          </a:xfrm>
          <a:prstGeom prst="rect">
            <a:avLst/>
          </a:prstGeom>
        </p:spPr>
      </p:pic>
      <p:sp>
        <p:nvSpPr>
          <p:cNvPr id="7" name="文本框 6"/>
          <p:cNvSpPr txBox="1"/>
          <p:nvPr/>
        </p:nvSpPr>
        <p:spPr>
          <a:xfrm>
            <a:off x="251460" y="1677670"/>
            <a:ext cx="7918450" cy="645160"/>
          </a:xfrm>
          <a:prstGeom prst="rect">
            <a:avLst/>
          </a:prstGeom>
          <a:noFill/>
        </p:spPr>
        <p:txBody>
          <a:bodyPr wrap="square" rtlCol="0">
            <a:spAutoFit/>
          </a:bodyPr>
          <a:p>
            <a:r>
              <a:rPr lang="zh-CN" altLang="en-US"/>
              <a:t>数据</a:t>
            </a:r>
            <a:r>
              <a:rPr lang="zh-CN" altLang="en-US"/>
              <a:t>来源： three major egocentric video datasets with eye tracking data</a:t>
            </a:r>
            <a:endParaRPr lang="zh-CN" altLang="en-US"/>
          </a:p>
          <a:p>
            <a:r>
              <a:rPr lang="zh-CN" altLang="en-US"/>
              <a:t>构建流程：</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sp>
        <p:nvSpPr>
          <p:cNvPr id="7" name="文本框 6"/>
          <p:cNvSpPr txBox="1"/>
          <p:nvPr/>
        </p:nvSpPr>
        <p:spPr>
          <a:xfrm>
            <a:off x="251460" y="1677670"/>
            <a:ext cx="7918450" cy="368300"/>
          </a:xfrm>
          <a:prstGeom prst="rect">
            <a:avLst/>
          </a:prstGeom>
          <a:noFill/>
        </p:spPr>
        <p:txBody>
          <a:bodyPr wrap="square" rtlCol="0">
            <a:spAutoFit/>
          </a:bodyPr>
          <a:p>
            <a:r>
              <a:rPr lang="zh-CN" altLang="en-US"/>
              <a:t>三种提示</a:t>
            </a:r>
            <a:r>
              <a:rPr lang="zh-CN" altLang="en-US"/>
              <a:t>方式</a:t>
            </a:r>
            <a:endParaRPr lang="zh-CN" altLang="en-US"/>
          </a:p>
        </p:txBody>
      </p:sp>
      <p:pic>
        <p:nvPicPr>
          <p:cNvPr id="12" name="图片 11"/>
          <p:cNvPicPr>
            <a:picLocks noChangeAspect="1"/>
          </p:cNvPicPr>
          <p:nvPr>
            <p:custDataLst>
              <p:tags r:id="rId1"/>
            </p:custDataLst>
          </p:nvPr>
        </p:nvPicPr>
        <p:blipFill>
          <a:blip r:embed="rId2"/>
          <a:stretch>
            <a:fillRect/>
          </a:stretch>
        </p:blipFill>
        <p:spPr>
          <a:xfrm>
            <a:off x="251460" y="2161540"/>
            <a:ext cx="8801100" cy="3619500"/>
          </a:xfrm>
          <a:prstGeom prst="rect">
            <a:avLst/>
          </a:prstGeom>
        </p:spPr>
      </p:pic>
      <p:sp>
        <p:nvSpPr>
          <p:cNvPr id="8" name="文本框 7"/>
          <p:cNvSpPr txBox="1"/>
          <p:nvPr/>
        </p:nvSpPr>
        <p:spPr>
          <a:xfrm>
            <a:off x="1115695" y="5876925"/>
            <a:ext cx="1220470" cy="368300"/>
          </a:xfrm>
          <a:prstGeom prst="rect">
            <a:avLst/>
          </a:prstGeom>
          <a:noFill/>
        </p:spPr>
        <p:txBody>
          <a:bodyPr wrap="square" rtlCol="0">
            <a:spAutoFit/>
          </a:bodyPr>
          <a:p>
            <a:r>
              <a:rPr lang="zh-CN" altLang="en-US"/>
              <a:t>文本</a:t>
            </a:r>
            <a:r>
              <a:rPr lang="zh-CN" altLang="en-US"/>
              <a:t>提示</a:t>
            </a:r>
            <a:endParaRPr lang="zh-CN" altLang="en-US"/>
          </a:p>
        </p:txBody>
      </p:sp>
      <p:sp>
        <p:nvSpPr>
          <p:cNvPr id="9" name="文本框 8"/>
          <p:cNvSpPr txBox="1"/>
          <p:nvPr>
            <p:custDataLst>
              <p:tags r:id="rId3"/>
            </p:custDataLst>
          </p:nvPr>
        </p:nvSpPr>
        <p:spPr>
          <a:xfrm>
            <a:off x="4041775" y="5918200"/>
            <a:ext cx="1220470" cy="368300"/>
          </a:xfrm>
          <a:prstGeom prst="rect">
            <a:avLst/>
          </a:prstGeom>
          <a:noFill/>
        </p:spPr>
        <p:txBody>
          <a:bodyPr wrap="square" rtlCol="0">
            <a:spAutoFit/>
          </a:bodyPr>
          <a:p>
            <a:r>
              <a:rPr lang="zh-CN" altLang="en-US"/>
              <a:t>视觉</a:t>
            </a:r>
            <a:r>
              <a:rPr lang="zh-CN" altLang="en-US"/>
              <a:t>提示</a:t>
            </a:r>
            <a:endParaRPr lang="zh-CN" altLang="en-US"/>
          </a:p>
        </p:txBody>
      </p:sp>
      <p:sp>
        <p:nvSpPr>
          <p:cNvPr id="10" name="文本框 9"/>
          <p:cNvSpPr txBox="1"/>
          <p:nvPr>
            <p:custDataLst>
              <p:tags r:id="rId4"/>
            </p:custDataLst>
          </p:nvPr>
        </p:nvSpPr>
        <p:spPr>
          <a:xfrm>
            <a:off x="6659880" y="5879465"/>
            <a:ext cx="1220470" cy="368300"/>
          </a:xfrm>
          <a:prstGeom prst="rect">
            <a:avLst/>
          </a:prstGeom>
          <a:noFill/>
        </p:spPr>
        <p:txBody>
          <a:bodyPr wrap="square" rtlCol="0">
            <a:spAutoFit/>
          </a:bodyPr>
          <a:p>
            <a:r>
              <a:rPr lang="zh-CN" altLang="en-US"/>
              <a:t>图片</a:t>
            </a:r>
            <a:r>
              <a:rPr lang="zh-CN" altLang="en-US"/>
              <a:t>提示</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pic>
        <p:nvPicPr>
          <p:cNvPr id="3" name="图片 2"/>
          <p:cNvPicPr>
            <a:picLocks noChangeAspect="1"/>
          </p:cNvPicPr>
          <p:nvPr>
            <p:custDataLst>
              <p:tags r:id="rId1"/>
            </p:custDataLst>
          </p:nvPr>
        </p:nvPicPr>
        <p:blipFill>
          <a:blip r:embed="rId2"/>
          <a:stretch>
            <a:fillRect/>
          </a:stretch>
        </p:blipFill>
        <p:spPr>
          <a:xfrm>
            <a:off x="5436235" y="1772920"/>
            <a:ext cx="3498850" cy="4501515"/>
          </a:xfrm>
          <a:prstGeom prst="rect">
            <a:avLst/>
          </a:prstGeom>
        </p:spPr>
      </p:pic>
      <p:sp>
        <p:nvSpPr>
          <p:cNvPr id="11" name="文本框 10"/>
          <p:cNvSpPr txBox="1"/>
          <p:nvPr/>
        </p:nvSpPr>
        <p:spPr>
          <a:xfrm>
            <a:off x="107950" y="1917065"/>
            <a:ext cx="5099685" cy="4184650"/>
          </a:xfrm>
          <a:prstGeom prst="rect">
            <a:avLst/>
          </a:prstGeom>
          <a:noFill/>
        </p:spPr>
        <p:txBody>
          <a:bodyPr wrap="square" rtlCol="0">
            <a:spAutoFit/>
          </a:bodyPr>
          <a:p>
            <a:r>
              <a:rPr lang="zh-CN" altLang="en-US" sz="1400"/>
              <a:t>1.  现有模型的局限性：在没有视线信息的情况下，现有的多模态大语言模型（MLLMs），包括先进的商业模型，都难以准确捕捉人类细粒度的空间和时间意图。</a:t>
            </a:r>
            <a:endParaRPr lang="zh-CN" altLang="en-US" sz="1400"/>
          </a:p>
          <a:p>
            <a:r>
              <a:rPr lang="zh-CN" altLang="en-US" sz="1400"/>
              <a:t>2.  因果推理表现较好：相比之下，大型MLLMs在因果推理任务上表现更好。这主要是因为这类任务的选项描述更详细，模型即使没有视线信息也能进行有效推断。</a:t>
            </a:r>
            <a:endParaRPr lang="zh-CN" altLang="en-US" sz="1400"/>
          </a:p>
          <a:p>
            <a:r>
              <a:rPr lang="zh-CN" altLang="en-US" sz="1400"/>
              <a:t>3.  视线信号的普遍有效性：当加入人类的视线信号（gaze signals）后，所有模型的性能都得到了提升，证明了视线信息对于理解人类意图的价值。</a:t>
            </a:r>
            <a:endParaRPr lang="zh-CN" altLang="en-US" sz="1400"/>
          </a:p>
          <a:p>
            <a:r>
              <a:rPr lang="zh-CN" altLang="en-US" sz="1400"/>
              <a:t>4.  模型规模是关键：性能提升的幅度与模型规模和能力显著相关。</a:t>
            </a:r>
            <a:endParaRPr lang="zh-CN" altLang="en-US" sz="1400"/>
          </a:p>
          <a:p>
            <a:r>
              <a:rPr lang="zh-CN" altLang="en-US" sz="1400"/>
              <a:t>    小模型：提升效果不明显。研究推测是由于其模型能力和训练数据有限，无法充分理解和利用视线相关的提示。</a:t>
            </a:r>
            <a:endParaRPr lang="zh-CN" altLang="en-US" sz="1400"/>
          </a:p>
          <a:p>
            <a:r>
              <a:rPr lang="zh-CN" altLang="en-US" sz="1400"/>
              <a:t>    大模型：提升效果非常显著，表明更大规模和更强能力的模型才能有效利用视线这种更精细的输入信息。</a:t>
            </a:r>
            <a:endParaRPr lang="zh-CN" altLang="en-US" sz="1400"/>
          </a:p>
          <a:p>
            <a:endParaRPr lang="zh-CN" altLang="en-US" sz="1400"/>
          </a:p>
          <a:p>
            <a:endParaRPr lang="zh-CN" altLang="en-US" sz="1400"/>
          </a:p>
          <a:p>
            <a:r>
              <a:rPr lang="zh-CN" altLang="en-US" sz="1400" b="1"/>
              <a:t>结论</a:t>
            </a:r>
            <a:r>
              <a:rPr lang="zh-CN" altLang="en-US" sz="1400"/>
              <a:t>：模型的规模和能力对于有效解读和利用人类视线信息、从而更准确地理解其意图，起着至关重要的作用。</a:t>
            </a:r>
            <a:endParaRPr lang="zh-CN"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pic>
        <p:nvPicPr>
          <p:cNvPr id="14" name="图片 13"/>
          <p:cNvPicPr>
            <a:picLocks noChangeAspect="1"/>
          </p:cNvPicPr>
          <p:nvPr>
            <p:custDataLst>
              <p:tags r:id="rId1"/>
            </p:custDataLst>
          </p:nvPr>
        </p:nvPicPr>
        <p:blipFill>
          <a:blip r:embed="rId2"/>
          <a:srcRect t="21704"/>
          <a:stretch>
            <a:fillRect/>
          </a:stretch>
        </p:blipFill>
        <p:spPr>
          <a:xfrm>
            <a:off x="179705" y="1951355"/>
            <a:ext cx="8305800" cy="1342390"/>
          </a:xfrm>
          <a:prstGeom prst="rect">
            <a:avLst/>
          </a:prstGeom>
        </p:spPr>
      </p:pic>
      <p:sp>
        <p:nvSpPr>
          <p:cNvPr id="7" name="文本框 6"/>
          <p:cNvSpPr txBox="1"/>
          <p:nvPr/>
        </p:nvSpPr>
        <p:spPr>
          <a:xfrm>
            <a:off x="251460" y="1557020"/>
            <a:ext cx="5141595" cy="368300"/>
          </a:xfrm>
          <a:prstGeom prst="rect">
            <a:avLst/>
          </a:prstGeom>
          <a:noFill/>
        </p:spPr>
        <p:txBody>
          <a:bodyPr wrap="square" rtlCol="0">
            <a:spAutoFit/>
          </a:bodyPr>
          <a:p>
            <a:r>
              <a:rPr lang="zh-CN" altLang="en-US"/>
              <a:t>少量数据微调即可大幅</a:t>
            </a:r>
            <a:r>
              <a:rPr lang="zh-CN" altLang="en-US"/>
              <a:t>增强</a:t>
            </a:r>
            <a:endParaRPr lang="zh-CN" altLang="en-US"/>
          </a:p>
        </p:txBody>
      </p:sp>
      <p:pic>
        <p:nvPicPr>
          <p:cNvPr id="8" name="图片 7"/>
          <p:cNvPicPr>
            <a:picLocks noChangeAspect="1"/>
          </p:cNvPicPr>
          <p:nvPr>
            <p:custDataLst>
              <p:tags r:id="rId3"/>
            </p:custDataLst>
          </p:nvPr>
        </p:nvPicPr>
        <p:blipFill>
          <a:blip r:embed="rId4"/>
          <a:stretch>
            <a:fillRect/>
          </a:stretch>
        </p:blipFill>
        <p:spPr>
          <a:xfrm>
            <a:off x="323850" y="3644900"/>
            <a:ext cx="6151880" cy="2726690"/>
          </a:xfrm>
          <a:prstGeom prst="rect">
            <a:avLst/>
          </a:prstGeom>
        </p:spPr>
      </p:pic>
      <p:sp>
        <p:nvSpPr>
          <p:cNvPr id="9" name="文本框 8"/>
          <p:cNvSpPr txBox="1"/>
          <p:nvPr/>
        </p:nvSpPr>
        <p:spPr>
          <a:xfrm>
            <a:off x="395605" y="3319780"/>
            <a:ext cx="3048000" cy="368300"/>
          </a:xfrm>
          <a:prstGeom prst="rect">
            <a:avLst/>
          </a:prstGeom>
          <a:noFill/>
        </p:spPr>
        <p:txBody>
          <a:bodyPr wrap="square" rtlCol="0">
            <a:spAutoFit/>
          </a:bodyPr>
          <a:p>
            <a:r>
              <a:rPr lang="zh-CN" altLang="en-US"/>
              <a:t>更多</a:t>
            </a:r>
            <a:r>
              <a:rPr lang="zh-CN" altLang="en-US"/>
              <a:t>例子：</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fld id="{DDFBCC9D-6FD1-47FB-8FE5-EE7D1C8B9D57}"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sym typeface="+mn-ea"/>
              </a:rPr>
              <a:t>Bowei Pu</a:t>
            </a:r>
            <a:r>
              <a:rPr lang="en-US" altLang="zh-CN"/>
              <a:t> - USTC</a:t>
            </a:r>
            <a:endParaRPr lang="zh-CN" altLang="en-US"/>
          </a:p>
        </p:txBody>
      </p:sp>
      <p:sp>
        <p:nvSpPr>
          <p:cNvPr id="6" name="灯片编号占位符 5"/>
          <p:cNvSpPr>
            <a:spLocks noGrp="1"/>
          </p:cNvSpPr>
          <p:nvPr>
            <p:ph type="sldNum" sz="quarter" idx="12"/>
          </p:nvPr>
        </p:nvSpPr>
        <p:spPr/>
        <p:txBody>
          <a:bodyPr/>
          <a:p>
            <a:fld id="{C536968F-8ADA-4A53-88C1-D8DA183B7D79}" type="slidenum">
              <a:rPr lang="zh-CN" altLang="en-US"/>
            </a:fld>
            <a:endParaRPr lang="zh-CN" altLang="en-US"/>
          </a:p>
        </p:txBody>
      </p:sp>
      <p:sp>
        <p:nvSpPr>
          <p:cNvPr id="2" name="文本框 1"/>
          <p:cNvSpPr txBox="1"/>
          <p:nvPr/>
        </p:nvSpPr>
        <p:spPr>
          <a:xfrm>
            <a:off x="35560" y="620395"/>
            <a:ext cx="7278370" cy="645160"/>
          </a:xfrm>
          <a:prstGeom prst="rect">
            <a:avLst/>
          </a:prstGeom>
          <a:noFill/>
        </p:spPr>
        <p:txBody>
          <a:bodyPr wrap="square" rtlCol="0">
            <a:spAutoFit/>
          </a:bodyPr>
          <a:p>
            <a:r>
              <a:rPr lang="en-US" altLang="zh-CN"/>
              <a:t>In the Eye of MLLM: Benchmarking Egocentric Video Intent Understanding with Gaze-Guided Prompting</a:t>
            </a:r>
            <a:endParaRPr lang="en-US" altLang="zh-CN"/>
          </a:p>
        </p:txBody>
      </p:sp>
      <p:pic>
        <p:nvPicPr>
          <p:cNvPr id="14" name="图片 13"/>
          <p:cNvPicPr>
            <a:picLocks noChangeAspect="1"/>
          </p:cNvPicPr>
          <p:nvPr>
            <p:custDataLst>
              <p:tags r:id="rId1"/>
            </p:custDataLst>
          </p:nvPr>
        </p:nvPicPr>
        <p:blipFill>
          <a:blip r:embed="rId2"/>
          <a:srcRect t="21704"/>
          <a:stretch>
            <a:fillRect/>
          </a:stretch>
        </p:blipFill>
        <p:spPr>
          <a:xfrm>
            <a:off x="179705" y="1951355"/>
            <a:ext cx="8305800" cy="1342390"/>
          </a:xfrm>
          <a:prstGeom prst="rect">
            <a:avLst/>
          </a:prstGeom>
        </p:spPr>
      </p:pic>
      <p:sp>
        <p:nvSpPr>
          <p:cNvPr id="7" name="文本框 6"/>
          <p:cNvSpPr txBox="1"/>
          <p:nvPr/>
        </p:nvSpPr>
        <p:spPr>
          <a:xfrm>
            <a:off x="251460" y="1557020"/>
            <a:ext cx="5141595" cy="368300"/>
          </a:xfrm>
          <a:prstGeom prst="rect">
            <a:avLst/>
          </a:prstGeom>
          <a:noFill/>
        </p:spPr>
        <p:txBody>
          <a:bodyPr wrap="square" rtlCol="0">
            <a:spAutoFit/>
          </a:bodyPr>
          <a:p>
            <a:r>
              <a:rPr lang="zh-CN" altLang="en-US"/>
              <a:t>少量数据微调即可大幅</a:t>
            </a:r>
            <a:r>
              <a:rPr lang="zh-CN" altLang="en-US"/>
              <a:t>增强</a:t>
            </a:r>
            <a:endParaRPr lang="zh-CN" altLang="en-US"/>
          </a:p>
        </p:txBody>
      </p:sp>
      <p:pic>
        <p:nvPicPr>
          <p:cNvPr id="8" name="图片 7"/>
          <p:cNvPicPr>
            <a:picLocks noChangeAspect="1"/>
          </p:cNvPicPr>
          <p:nvPr>
            <p:custDataLst>
              <p:tags r:id="rId3"/>
            </p:custDataLst>
          </p:nvPr>
        </p:nvPicPr>
        <p:blipFill>
          <a:blip r:embed="rId4"/>
          <a:stretch>
            <a:fillRect/>
          </a:stretch>
        </p:blipFill>
        <p:spPr>
          <a:xfrm>
            <a:off x="323850" y="3644900"/>
            <a:ext cx="6151880" cy="2726690"/>
          </a:xfrm>
          <a:prstGeom prst="rect">
            <a:avLst/>
          </a:prstGeom>
        </p:spPr>
      </p:pic>
      <p:sp>
        <p:nvSpPr>
          <p:cNvPr id="9" name="文本框 8"/>
          <p:cNvSpPr txBox="1"/>
          <p:nvPr/>
        </p:nvSpPr>
        <p:spPr>
          <a:xfrm>
            <a:off x="395605" y="3319780"/>
            <a:ext cx="3048000" cy="368300"/>
          </a:xfrm>
          <a:prstGeom prst="rect">
            <a:avLst/>
          </a:prstGeom>
          <a:noFill/>
        </p:spPr>
        <p:txBody>
          <a:bodyPr wrap="square" rtlCol="0">
            <a:spAutoFit/>
          </a:bodyPr>
          <a:p>
            <a:r>
              <a:rPr lang="zh-CN" altLang="en-US"/>
              <a:t>更多</a:t>
            </a:r>
            <a:r>
              <a:rPr lang="zh-CN" altLang="en-US"/>
              <a:t>例子：</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commondata" val="eyJoZGlkIjoiNmNhMWRkMjAyNzNjZjhiODA1MWNmZmYyNjM2NTZiODAifQ=="/>
</p:tagLst>
</file>

<file path=ppt/theme/theme1.xml><?xml version="1.0" encoding="utf-8"?>
<a:theme xmlns:a="http://schemas.openxmlformats.org/drawingml/2006/main" name="1_1">
  <a:themeElements>
    <a:clrScheme name="中性 1">
      <a:dk1>
        <a:srgbClr val="000000"/>
      </a:dk1>
      <a:lt1>
        <a:srgbClr val="FFFFFF"/>
      </a:lt1>
      <a:dk2>
        <a:srgbClr val="775F55"/>
      </a:dk2>
      <a:lt2>
        <a:srgbClr val="EBDDC3"/>
      </a:lt2>
      <a:accent1>
        <a:srgbClr val="94B6D2"/>
      </a:accent1>
      <a:accent2>
        <a:srgbClr val="DD8047"/>
      </a:accent2>
      <a:accent3>
        <a:srgbClr val="FFFFFF"/>
      </a:accent3>
      <a:accent4>
        <a:srgbClr val="000000"/>
      </a:accent4>
      <a:accent5>
        <a:srgbClr val="C8D7E5"/>
      </a:accent5>
      <a:accent6>
        <a:srgbClr val="C8733F"/>
      </a:accent6>
      <a:hlink>
        <a:srgbClr val="F7B615"/>
      </a:hlink>
      <a:folHlink>
        <a:srgbClr val="704404"/>
      </a:folHlink>
    </a:clrScheme>
    <a:fontScheme name="中性">
      <a:majorFont>
        <a:latin typeface="Arial"/>
        <a:ea typeface="黑体"/>
        <a:cs typeface=""/>
      </a:majorFont>
      <a:minorFont>
        <a:latin typeface="Palatino Linotype"/>
        <a:ea typeface="仿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中性 1">
        <a:dk1>
          <a:srgbClr val="000000"/>
        </a:dk1>
        <a:lt1>
          <a:srgbClr val="FFFFFF"/>
        </a:lt1>
        <a:dk2>
          <a:srgbClr val="775F55"/>
        </a:dk2>
        <a:lt2>
          <a:srgbClr val="EBDDC3"/>
        </a:lt2>
        <a:accent1>
          <a:srgbClr val="94B6D2"/>
        </a:accent1>
        <a:accent2>
          <a:srgbClr val="DD8047"/>
        </a:accent2>
        <a:accent3>
          <a:srgbClr val="FFFFFF"/>
        </a:accent3>
        <a:accent4>
          <a:srgbClr val="000000"/>
        </a:accent4>
        <a:accent5>
          <a:srgbClr val="C8D7E5"/>
        </a:accent5>
        <a:accent6>
          <a:srgbClr val="C8733F"/>
        </a:accent6>
        <a:hlink>
          <a:srgbClr val="F7B615"/>
        </a:hlink>
        <a:folHlink>
          <a:srgbClr val="70440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3854</Words>
  <Application>WPS 表格</Application>
  <PresentationFormat>全屏显示(4:3)</PresentationFormat>
  <Paragraphs>237</Paragraphs>
  <Slides>18</Slides>
  <Notes>7</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18</vt:i4>
      </vt:variant>
    </vt:vector>
  </HeadingPairs>
  <TitlesOfParts>
    <vt:vector size="44" baseType="lpstr">
      <vt:lpstr>Arial</vt:lpstr>
      <vt:lpstr>宋体</vt:lpstr>
      <vt:lpstr>Wingdings</vt:lpstr>
      <vt:lpstr>汉仪书宋二KW</vt:lpstr>
      <vt:lpstr>Palatino Linotype</vt:lpstr>
      <vt:lpstr>仿宋</vt:lpstr>
      <vt:lpstr>黑体</vt:lpstr>
      <vt:lpstr>汉仪中黑KW</vt:lpstr>
      <vt:lpstr>Calibri</vt:lpstr>
      <vt:lpstr>Helvetica Neue</vt:lpstr>
      <vt:lpstr>等线</vt:lpstr>
      <vt:lpstr>汉仪中等线KW</vt:lpstr>
      <vt:lpstr>rival-sans</vt:lpstr>
      <vt:lpstr>Thonburi</vt:lpstr>
      <vt:lpstr>Times New Roman</vt:lpstr>
      <vt:lpstr>苹方-简</vt:lpstr>
      <vt:lpstr>方正仿宋_GBK</vt:lpstr>
      <vt:lpstr>微软雅黑</vt:lpstr>
      <vt:lpstr>汉仪旗黑</vt:lpstr>
      <vt:lpstr>宋体</vt:lpstr>
      <vt:lpstr>Arial Unicode MS</vt:lpstr>
      <vt:lpstr>rival-sans</vt:lpstr>
      <vt:lpstr>仿宋</vt:lpstr>
      <vt:lpstr>等线</vt:lpstr>
      <vt:lpstr>黑体</vt:lpstr>
      <vt:lpstr>1_1</vt:lpstr>
      <vt:lpstr>第一人称(Ego)视频理解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刘传彬</dc:creator>
  <cp:keywords>Research</cp:keywords>
  <cp:lastModifiedBy>浦博威</cp:lastModifiedBy>
  <cp:revision>879</cp:revision>
  <dcterms:created xsi:type="dcterms:W3CDTF">2025-10-20T09:21:38Z</dcterms:created>
  <dcterms:modified xsi:type="dcterms:W3CDTF">2025-10-20T09:21:38Z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2052-7.4.1.8983</vt:lpwstr>
  </property>
  <property fmtid="{D5CDD505-2E9C-101B-9397-08002B2CF9AE}" pid="3" name="ICV">
    <vt:lpwstr>867CC8B5CD365E1322FFF56808493E23_43</vt:lpwstr>
  </property>
</Properties>
</file>